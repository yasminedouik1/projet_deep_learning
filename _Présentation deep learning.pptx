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Quicksand Bold" charset="1" panose="00000000000000000000"/>
      <p:regular r:id="rId17"/>
    </p:embeddedFont>
    <p:embeddedFont>
      <p:font typeface="Bungee" charset="1" panose="00000000000000000000"/>
      <p:regular r:id="rId18"/>
    </p:embeddedFont>
    <p:embeddedFont>
      <p:font typeface="Chewy" charset="1" panose="02000000000000000000"/>
      <p:regular r:id="rId19"/>
    </p:embeddedFont>
    <p:embeddedFont>
      <p:font typeface="Brittany" charset="1" panose="00000000000000000000"/>
      <p:regular r:id="rId20"/>
    </p:embeddedFont>
    <p:embeddedFont>
      <p:font typeface="Quicksan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1907" y="1028700"/>
            <a:ext cx="16264346" cy="7572531"/>
            <a:chOff x="0" y="0"/>
            <a:chExt cx="4283614" cy="1994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3614" cy="1994412"/>
            </a:xfrm>
            <a:custGeom>
              <a:avLst/>
              <a:gdLst/>
              <a:ahLst/>
              <a:cxnLst/>
              <a:rect r="r" b="b" t="t" l="l"/>
              <a:pathLst>
                <a:path h="1994412" w="4283614">
                  <a:moveTo>
                    <a:pt x="38080" y="0"/>
                  </a:moveTo>
                  <a:lnTo>
                    <a:pt x="4245533" y="0"/>
                  </a:lnTo>
                  <a:cubicBezTo>
                    <a:pt x="4255633" y="0"/>
                    <a:pt x="4265319" y="4012"/>
                    <a:pt x="4272460" y="11154"/>
                  </a:cubicBezTo>
                  <a:cubicBezTo>
                    <a:pt x="4279602" y="18295"/>
                    <a:pt x="4283614" y="27981"/>
                    <a:pt x="4283614" y="38080"/>
                  </a:cubicBezTo>
                  <a:lnTo>
                    <a:pt x="4283614" y="1956331"/>
                  </a:lnTo>
                  <a:cubicBezTo>
                    <a:pt x="4283614" y="1966431"/>
                    <a:pt x="4279602" y="1976117"/>
                    <a:pt x="4272460" y="1983258"/>
                  </a:cubicBezTo>
                  <a:cubicBezTo>
                    <a:pt x="4265319" y="1990400"/>
                    <a:pt x="4255633" y="1994412"/>
                    <a:pt x="4245533" y="1994412"/>
                  </a:cubicBezTo>
                  <a:lnTo>
                    <a:pt x="38080" y="1994412"/>
                  </a:lnTo>
                  <a:cubicBezTo>
                    <a:pt x="27981" y="1994412"/>
                    <a:pt x="18295" y="1990400"/>
                    <a:pt x="11154" y="1983258"/>
                  </a:cubicBezTo>
                  <a:cubicBezTo>
                    <a:pt x="4012" y="1976117"/>
                    <a:pt x="0" y="1966431"/>
                    <a:pt x="0" y="1956331"/>
                  </a:cubicBezTo>
                  <a:lnTo>
                    <a:pt x="0" y="38080"/>
                  </a:lnTo>
                  <a:cubicBezTo>
                    <a:pt x="0" y="27981"/>
                    <a:pt x="4012" y="18295"/>
                    <a:pt x="11154" y="11154"/>
                  </a:cubicBezTo>
                  <a:cubicBezTo>
                    <a:pt x="18295" y="4012"/>
                    <a:pt x="27981" y="0"/>
                    <a:pt x="38080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83614" cy="2032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21902" y="2472418"/>
            <a:ext cx="15063246" cy="10042164"/>
          </a:xfrm>
          <a:custGeom>
            <a:avLst/>
            <a:gdLst/>
            <a:ahLst/>
            <a:cxnLst/>
            <a:rect r="r" b="b" t="t" l="l"/>
            <a:pathLst>
              <a:path h="10042164" w="15063246">
                <a:moveTo>
                  <a:pt x="0" y="0"/>
                </a:moveTo>
                <a:lnTo>
                  <a:pt x="15063246" y="0"/>
                </a:lnTo>
                <a:lnTo>
                  <a:pt x="15063246" y="10042163"/>
                </a:lnTo>
                <a:lnTo>
                  <a:pt x="0" y="10042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998245" y="6710597"/>
            <a:ext cx="6291509" cy="946236"/>
            <a:chOff x="0" y="0"/>
            <a:chExt cx="1657023" cy="249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7023" cy="249214"/>
            </a:xfrm>
            <a:custGeom>
              <a:avLst/>
              <a:gdLst/>
              <a:ahLst/>
              <a:cxnLst/>
              <a:rect r="r" b="b" t="t" l="l"/>
              <a:pathLst>
                <a:path h="249214" w="1657023">
                  <a:moveTo>
                    <a:pt x="98443" y="0"/>
                  </a:moveTo>
                  <a:lnTo>
                    <a:pt x="1558580" y="0"/>
                  </a:lnTo>
                  <a:cubicBezTo>
                    <a:pt x="1612949" y="0"/>
                    <a:pt x="1657023" y="44074"/>
                    <a:pt x="1657023" y="98443"/>
                  </a:cubicBezTo>
                  <a:lnTo>
                    <a:pt x="1657023" y="150772"/>
                  </a:lnTo>
                  <a:cubicBezTo>
                    <a:pt x="1657023" y="176880"/>
                    <a:pt x="1646651" y="201920"/>
                    <a:pt x="1628190" y="220381"/>
                  </a:cubicBezTo>
                  <a:cubicBezTo>
                    <a:pt x="1609728" y="238843"/>
                    <a:pt x="1584689" y="249214"/>
                    <a:pt x="1558580" y="249214"/>
                  </a:cubicBezTo>
                  <a:lnTo>
                    <a:pt x="98443" y="249214"/>
                  </a:lnTo>
                  <a:cubicBezTo>
                    <a:pt x="44074" y="249214"/>
                    <a:pt x="0" y="205140"/>
                    <a:pt x="0" y="150772"/>
                  </a:cubicBezTo>
                  <a:lnTo>
                    <a:pt x="0" y="98443"/>
                  </a:lnTo>
                  <a:cubicBezTo>
                    <a:pt x="0" y="44074"/>
                    <a:pt x="44074" y="0"/>
                    <a:pt x="9844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546FB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657023" cy="315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1C3675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Yasmine Douik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24922" y="1361949"/>
            <a:ext cx="4798317" cy="928727"/>
            <a:chOff x="0" y="0"/>
            <a:chExt cx="1263754" cy="2446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3754" cy="244603"/>
            </a:xfrm>
            <a:custGeom>
              <a:avLst/>
              <a:gdLst/>
              <a:ahLst/>
              <a:cxnLst/>
              <a:rect r="r" b="b" t="t" l="l"/>
              <a:pathLst>
                <a:path h="244603" w="1263754">
                  <a:moveTo>
                    <a:pt x="122302" y="0"/>
                  </a:moveTo>
                  <a:lnTo>
                    <a:pt x="1141453" y="0"/>
                  </a:lnTo>
                  <a:cubicBezTo>
                    <a:pt x="1173889" y="0"/>
                    <a:pt x="1204997" y="12885"/>
                    <a:pt x="1227933" y="35821"/>
                  </a:cubicBezTo>
                  <a:cubicBezTo>
                    <a:pt x="1250869" y="58757"/>
                    <a:pt x="1263754" y="89865"/>
                    <a:pt x="1263754" y="122302"/>
                  </a:cubicBezTo>
                  <a:lnTo>
                    <a:pt x="1263754" y="122302"/>
                  </a:lnTo>
                  <a:cubicBezTo>
                    <a:pt x="1263754" y="189847"/>
                    <a:pt x="1208998" y="244603"/>
                    <a:pt x="1141453" y="244603"/>
                  </a:cubicBezTo>
                  <a:lnTo>
                    <a:pt x="122302" y="244603"/>
                  </a:lnTo>
                  <a:cubicBezTo>
                    <a:pt x="89865" y="244603"/>
                    <a:pt x="58757" y="231718"/>
                    <a:pt x="35821" y="208782"/>
                  </a:cubicBezTo>
                  <a:cubicBezTo>
                    <a:pt x="12885" y="185846"/>
                    <a:pt x="0" y="154738"/>
                    <a:pt x="0" y="122302"/>
                  </a:cubicBezTo>
                  <a:lnTo>
                    <a:pt x="0" y="122302"/>
                  </a:lnTo>
                  <a:cubicBezTo>
                    <a:pt x="0" y="89865"/>
                    <a:pt x="12885" y="58757"/>
                    <a:pt x="35821" y="35821"/>
                  </a:cubicBezTo>
                  <a:cubicBezTo>
                    <a:pt x="58757" y="12885"/>
                    <a:pt x="89865" y="0"/>
                    <a:pt x="122302" y="0"/>
                  </a:cubicBezTo>
                  <a:close/>
                </a:path>
              </a:pathLst>
            </a:custGeom>
            <a:solidFill>
              <a:srgbClr val="30488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63754" cy="282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11367" y="2329543"/>
            <a:ext cx="12065265" cy="248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1"/>
              </a:lnSpc>
            </a:pPr>
            <a:r>
              <a:rPr lang="en-US" sz="5024">
                <a:solidFill>
                  <a:srgbClr val="1D3163"/>
                </a:solidFill>
                <a:latin typeface="Bungee"/>
                <a:ea typeface="Bungee"/>
                <a:cs typeface="Bungee"/>
                <a:sym typeface="Bungee"/>
              </a:rPr>
              <a:t>CLASSIFICATION AUTOMATIQUE DES PLEURS DE NOURRISSONS PAR DEEP LEARNING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524871" y="9504994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38951" y="1554914"/>
            <a:ext cx="3970258" cy="45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5"/>
              </a:lnSpc>
            </a:pPr>
            <a:r>
              <a:rPr lang="en-US" sz="2599" spc="343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Baby </a:t>
            </a:r>
            <a:r>
              <a:rPr lang="en-US" sz="2599" spc="343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Cry Classification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75544" y="6381985"/>
            <a:ext cx="234048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7"/>
              </a:lnSpc>
            </a:pPr>
            <a:r>
              <a:rPr lang="en-US" sz="3598">
                <a:solidFill>
                  <a:srgbClr val="1D3163"/>
                </a:solidFill>
                <a:latin typeface="Brittany"/>
                <a:ea typeface="Brittany"/>
                <a:cs typeface="Brittany"/>
                <a:sym typeface="Brittany"/>
              </a:rPr>
              <a:t>Préparé par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2020" y="454173"/>
            <a:ext cx="8430282" cy="9031771"/>
            <a:chOff x="0" y="0"/>
            <a:chExt cx="2221782" cy="2380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1782" cy="2380304"/>
            </a:xfrm>
            <a:custGeom>
              <a:avLst/>
              <a:gdLst/>
              <a:ahLst/>
              <a:cxnLst/>
              <a:rect r="r" b="b" t="t" l="l"/>
              <a:pathLst>
                <a:path h="2380304" w="2221782">
                  <a:moveTo>
                    <a:pt x="91835" y="0"/>
                  </a:moveTo>
                  <a:lnTo>
                    <a:pt x="2129948" y="0"/>
                  </a:lnTo>
                  <a:cubicBezTo>
                    <a:pt x="2180667" y="0"/>
                    <a:pt x="2221782" y="41116"/>
                    <a:pt x="2221782" y="91835"/>
                  </a:cubicBezTo>
                  <a:lnTo>
                    <a:pt x="2221782" y="2288469"/>
                  </a:lnTo>
                  <a:cubicBezTo>
                    <a:pt x="2221782" y="2312825"/>
                    <a:pt x="2212107" y="2336184"/>
                    <a:pt x="2194885" y="2353406"/>
                  </a:cubicBezTo>
                  <a:cubicBezTo>
                    <a:pt x="2177662" y="2370628"/>
                    <a:pt x="2154304" y="2380304"/>
                    <a:pt x="2129948" y="2380304"/>
                  </a:cubicBezTo>
                  <a:lnTo>
                    <a:pt x="91835" y="2380304"/>
                  </a:lnTo>
                  <a:cubicBezTo>
                    <a:pt x="67479" y="2380304"/>
                    <a:pt x="44120" y="2370628"/>
                    <a:pt x="26898" y="2353406"/>
                  </a:cubicBezTo>
                  <a:cubicBezTo>
                    <a:pt x="9675" y="2336184"/>
                    <a:pt x="0" y="2312825"/>
                    <a:pt x="0" y="2288469"/>
                  </a:cubicBezTo>
                  <a:lnTo>
                    <a:pt x="0" y="91835"/>
                  </a:lnTo>
                  <a:cubicBezTo>
                    <a:pt x="0" y="67479"/>
                    <a:pt x="9675" y="44120"/>
                    <a:pt x="26898" y="26898"/>
                  </a:cubicBezTo>
                  <a:cubicBezTo>
                    <a:pt x="44120" y="9675"/>
                    <a:pt x="67479" y="0"/>
                    <a:pt x="9183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21782" cy="2418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80565" y="995047"/>
            <a:ext cx="5774612" cy="726295"/>
            <a:chOff x="0" y="0"/>
            <a:chExt cx="1521886" cy="1914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1886" cy="191414"/>
            </a:xfrm>
            <a:custGeom>
              <a:avLst/>
              <a:gdLst/>
              <a:ahLst/>
              <a:cxnLst/>
              <a:rect r="r" b="b" t="t" l="l"/>
              <a:pathLst>
                <a:path h="191414" w="1521886">
                  <a:moveTo>
                    <a:pt x="95707" y="0"/>
                  </a:moveTo>
                  <a:lnTo>
                    <a:pt x="1426180" y="0"/>
                  </a:lnTo>
                  <a:cubicBezTo>
                    <a:pt x="1451563" y="0"/>
                    <a:pt x="1475906" y="10083"/>
                    <a:pt x="1493855" y="28032"/>
                  </a:cubicBezTo>
                  <a:cubicBezTo>
                    <a:pt x="1511803" y="45980"/>
                    <a:pt x="1521886" y="70324"/>
                    <a:pt x="1521886" y="95707"/>
                  </a:cubicBezTo>
                  <a:lnTo>
                    <a:pt x="1521886" y="95707"/>
                  </a:lnTo>
                  <a:cubicBezTo>
                    <a:pt x="1521886" y="121090"/>
                    <a:pt x="1511803" y="145433"/>
                    <a:pt x="1493855" y="163382"/>
                  </a:cubicBezTo>
                  <a:cubicBezTo>
                    <a:pt x="1475906" y="181330"/>
                    <a:pt x="1451563" y="191414"/>
                    <a:pt x="1426180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21886" cy="22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35025" y="971234"/>
            <a:ext cx="717393" cy="773920"/>
            <a:chOff x="0" y="0"/>
            <a:chExt cx="753433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3433" cy="812800"/>
            </a:xfrm>
            <a:custGeom>
              <a:avLst/>
              <a:gdLst/>
              <a:ahLst/>
              <a:cxnLst/>
              <a:rect r="r" b="b" t="t" l="l"/>
              <a:pathLst>
                <a:path h="812800" w="753433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0634" y="9525"/>
              <a:ext cx="6121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1D3163"/>
                  </a:solidFill>
                  <a:latin typeface="Bungee"/>
                  <a:ea typeface="Bungee"/>
                  <a:cs typeface="Bungee"/>
                  <a:sym typeface="Bungee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852762" y="1151773"/>
            <a:ext cx="468097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8" b="true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Introduction et Contexte</a:t>
            </a:r>
          </a:p>
          <a:p>
            <a:pPr algn="l">
              <a:lnSpc>
                <a:spcPts val="3237"/>
              </a:lnSpc>
            </a:pPr>
          </a:p>
        </p:txBody>
      </p:sp>
      <p:sp>
        <p:nvSpPr>
          <p:cNvPr name="AutoShape 12" id="12"/>
          <p:cNvSpPr/>
          <p:nvPr/>
        </p:nvSpPr>
        <p:spPr>
          <a:xfrm>
            <a:off x="2840571" y="1366086"/>
            <a:ext cx="6399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3480565" y="1950775"/>
            <a:ext cx="5774612" cy="726295"/>
            <a:chOff x="0" y="0"/>
            <a:chExt cx="1521886" cy="1914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1886" cy="191414"/>
            </a:xfrm>
            <a:custGeom>
              <a:avLst/>
              <a:gdLst/>
              <a:ahLst/>
              <a:cxnLst/>
              <a:rect r="r" b="b" t="t" l="l"/>
              <a:pathLst>
                <a:path h="191414" w="1521886">
                  <a:moveTo>
                    <a:pt x="95707" y="0"/>
                  </a:moveTo>
                  <a:lnTo>
                    <a:pt x="1426180" y="0"/>
                  </a:lnTo>
                  <a:cubicBezTo>
                    <a:pt x="1451563" y="0"/>
                    <a:pt x="1475906" y="10083"/>
                    <a:pt x="1493855" y="28032"/>
                  </a:cubicBezTo>
                  <a:cubicBezTo>
                    <a:pt x="1511803" y="45980"/>
                    <a:pt x="1521886" y="70324"/>
                    <a:pt x="1521886" y="95707"/>
                  </a:cubicBezTo>
                  <a:lnTo>
                    <a:pt x="1521886" y="95707"/>
                  </a:lnTo>
                  <a:cubicBezTo>
                    <a:pt x="1521886" y="121090"/>
                    <a:pt x="1511803" y="145433"/>
                    <a:pt x="1493855" y="163382"/>
                  </a:cubicBezTo>
                  <a:cubicBezTo>
                    <a:pt x="1475906" y="181330"/>
                    <a:pt x="1451563" y="191414"/>
                    <a:pt x="1426180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521886" cy="22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235025" y="1926963"/>
            <a:ext cx="717393" cy="773920"/>
            <a:chOff x="0" y="0"/>
            <a:chExt cx="753433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3433" cy="812800"/>
            </a:xfrm>
            <a:custGeom>
              <a:avLst/>
              <a:gdLst/>
              <a:ahLst/>
              <a:cxnLst/>
              <a:rect r="r" b="b" t="t" l="l"/>
              <a:pathLst>
                <a:path h="812800" w="753433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0634" y="9525"/>
              <a:ext cx="6121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1D3163"/>
                  </a:solidFill>
                  <a:latin typeface="Bungee"/>
                  <a:ea typeface="Bungee"/>
                  <a:cs typeface="Bungee"/>
                  <a:sym typeface="Bungee"/>
                </a:rPr>
                <a:t>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794957" y="2117027"/>
            <a:ext cx="533197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98" b="true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Problème &amp; Dataset</a:t>
            </a:r>
          </a:p>
        </p:txBody>
      </p:sp>
      <p:sp>
        <p:nvSpPr>
          <p:cNvPr name="AutoShape 20" id="20"/>
          <p:cNvSpPr/>
          <p:nvPr/>
        </p:nvSpPr>
        <p:spPr>
          <a:xfrm>
            <a:off x="2840571" y="2321814"/>
            <a:ext cx="6399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3480565" y="3044195"/>
            <a:ext cx="5774612" cy="726295"/>
            <a:chOff x="0" y="0"/>
            <a:chExt cx="1521886" cy="1914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1886" cy="191414"/>
            </a:xfrm>
            <a:custGeom>
              <a:avLst/>
              <a:gdLst/>
              <a:ahLst/>
              <a:cxnLst/>
              <a:rect r="r" b="b" t="t" l="l"/>
              <a:pathLst>
                <a:path h="191414" w="1521886">
                  <a:moveTo>
                    <a:pt x="95707" y="0"/>
                  </a:moveTo>
                  <a:lnTo>
                    <a:pt x="1426180" y="0"/>
                  </a:lnTo>
                  <a:cubicBezTo>
                    <a:pt x="1451563" y="0"/>
                    <a:pt x="1475906" y="10083"/>
                    <a:pt x="1493855" y="28032"/>
                  </a:cubicBezTo>
                  <a:cubicBezTo>
                    <a:pt x="1511803" y="45980"/>
                    <a:pt x="1521886" y="70324"/>
                    <a:pt x="1521886" y="95707"/>
                  </a:cubicBezTo>
                  <a:lnTo>
                    <a:pt x="1521886" y="95707"/>
                  </a:lnTo>
                  <a:cubicBezTo>
                    <a:pt x="1521886" y="121090"/>
                    <a:pt x="1511803" y="145433"/>
                    <a:pt x="1493855" y="163382"/>
                  </a:cubicBezTo>
                  <a:cubicBezTo>
                    <a:pt x="1475906" y="181330"/>
                    <a:pt x="1451563" y="191414"/>
                    <a:pt x="1426180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21886" cy="22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235025" y="3020382"/>
            <a:ext cx="717393" cy="773920"/>
            <a:chOff x="0" y="0"/>
            <a:chExt cx="753433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3433" cy="812800"/>
            </a:xfrm>
            <a:custGeom>
              <a:avLst/>
              <a:gdLst/>
              <a:ahLst/>
              <a:cxnLst/>
              <a:rect r="r" b="b" t="t" l="l"/>
              <a:pathLst>
                <a:path h="812800" w="753433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0634" y="9525"/>
              <a:ext cx="6121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1D3163"/>
                  </a:solidFill>
                  <a:latin typeface="Bungee"/>
                  <a:ea typeface="Bungee"/>
                  <a:cs typeface="Bungee"/>
                  <a:sym typeface="Bungee"/>
                </a:rPr>
                <a:t>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794957" y="3219996"/>
            <a:ext cx="571646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98" b="true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Pipeline Deep Learning</a:t>
            </a:r>
          </a:p>
        </p:txBody>
      </p:sp>
      <p:sp>
        <p:nvSpPr>
          <p:cNvPr name="AutoShape 28" id="28"/>
          <p:cNvSpPr/>
          <p:nvPr/>
        </p:nvSpPr>
        <p:spPr>
          <a:xfrm>
            <a:off x="2840571" y="3415234"/>
            <a:ext cx="6399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3480565" y="4141965"/>
            <a:ext cx="5774612" cy="726295"/>
            <a:chOff x="0" y="0"/>
            <a:chExt cx="1521886" cy="19141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1886" cy="191414"/>
            </a:xfrm>
            <a:custGeom>
              <a:avLst/>
              <a:gdLst/>
              <a:ahLst/>
              <a:cxnLst/>
              <a:rect r="r" b="b" t="t" l="l"/>
              <a:pathLst>
                <a:path h="191414" w="1521886">
                  <a:moveTo>
                    <a:pt x="95707" y="0"/>
                  </a:moveTo>
                  <a:lnTo>
                    <a:pt x="1426180" y="0"/>
                  </a:lnTo>
                  <a:cubicBezTo>
                    <a:pt x="1451563" y="0"/>
                    <a:pt x="1475906" y="10083"/>
                    <a:pt x="1493855" y="28032"/>
                  </a:cubicBezTo>
                  <a:cubicBezTo>
                    <a:pt x="1511803" y="45980"/>
                    <a:pt x="1521886" y="70324"/>
                    <a:pt x="1521886" y="95707"/>
                  </a:cubicBezTo>
                  <a:lnTo>
                    <a:pt x="1521886" y="95707"/>
                  </a:lnTo>
                  <a:cubicBezTo>
                    <a:pt x="1521886" y="121090"/>
                    <a:pt x="1511803" y="145433"/>
                    <a:pt x="1493855" y="163382"/>
                  </a:cubicBezTo>
                  <a:cubicBezTo>
                    <a:pt x="1475906" y="181330"/>
                    <a:pt x="1451563" y="191414"/>
                    <a:pt x="1426180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21886" cy="22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235025" y="4118153"/>
            <a:ext cx="717393" cy="773920"/>
            <a:chOff x="0" y="0"/>
            <a:chExt cx="753433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3433" cy="812800"/>
            </a:xfrm>
            <a:custGeom>
              <a:avLst/>
              <a:gdLst/>
              <a:ahLst/>
              <a:cxnLst/>
              <a:rect r="r" b="b" t="t" l="l"/>
              <a:pathLst>
                <a:path h="812800" w="753433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0634" y="9525"/>
              <a:ext cx="6121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1D3163"/>
                  </a:solidFill>
                  <a:latin typeface="Bungee"/>
                  <a:ea typeface="Bungee"/>
                  <a:cs typeface="Bungee"/>
                  <a:sym typeface="Bungee"/>
                </a:rPr>
                <a:t>4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824187" y="4298692"/>
            <a:ext cx="430645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Architectures Testées</a:t>
            </a:r>
          </a:p>
        </p:txBody>
      </p:sp>
      <p:sp>
        <p:nvSpPr>
          <p:cNvPr name="AutoShape 36" id="36"/>
          <p:cNvSpPr/>
          <p:nvPr/>
        </p:nvSpPr>
        <p:spPr>
          <a:xfrm>
            <a:off x="2840571" y="4513004"/>
            <a:ext cx="6399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3480565" y="5239736"/>
            <a:ext cx="5882693" cy="726295"/>
            <a:chOff x="0" y="0"/>
            <a:chExt cx="1550371" cy="19141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50371" cy="191414"/>
            </a:xfrm>
            <a:custGeom>
              <a:avLst/>
              <a:gdLst/>
              <a:ahLst/>
              <a:cxnLst/>
              <a:rect r="r" b="b" t="t" l="l"/>
              <a:pathLst>
                <a:path h="191414" w="1550371">
                  <a:moveTo>
                    <a:pt x="95707" y="0"/>
                  </a:moveTo>
                  <a:lnTo>
                    <a:pt x="1454664" y="0"/>
                  </a:lnTo>
                  <a:cubicBezTo>
                    <a:pt x="1507521" y="0"/>
                    <a:pt x="1550371" y="42849"/>
                    <a:pt x="1550371" y="95707"/>
                  </a:cubicBezTo>
                  <a:lnTo>
                    <a:pt x="1550371" y="95707"/>
                  </a:lnTo>
                  <a:cubicBezTo>
                    <a:pt x="1550371" y="121090"/>
                    <a:pt x="1540287" y="145433"/>
                    <a:pt x="1522339" y="163382"/>
                  </a:cubicBezTo>
                  <a:cubicBezTo>
                    <a:pt x="1504391" y="181330"/>
                    <a:pt x="1480047" y="191414"/>
                    <a:pt x="1454664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550371" cy="22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235025" y="5215923"/>
            <a:ext cx="717393" cy="773920"/>
            <a:chOff x="0" y="0"/>
            <a:chExt cx="753433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3433" cy="812800"/>
            </a:xfrm>
            <a:custGeom>
              <a:avLst/>
              <a:gdLst/>
              <a:ahLst/>
              <a:cxnLst/>
              <a:rect r="r" b="b" t="t" l="l"/>
              <a:pathLst>
                <a:path h="812800" w="753433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0634" y="9525"/>
              <a:ext cx="6121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1D3163"/>
                  </a:solidFill>
                  <a:latin typeface="Bungee"/>
                  <a:ea typeface="Bungee"/>
                  <a:cs typeface="Bungee"/>
                  <a:sym typeface="Bungee"/>
                </a:rPr>
                <a:t>5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852762" y="5396462"/>
            <a:ext cx="426714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8" b="true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Entraînement</a:t>
            </a:r>
          </a:p>
        </p:txBody>
      </p:sp>
      <p:sp>
        <p:nvSpPr>
          <p:cNvPr name="AutoShape 44" id="44"/>
          <p:cNvSpPr/>
          <p:nvPr/>
        </p:nvSpPr>
        <p:spPr>
          <a:xfrm>
            <a:off x="2840571" y="5610775"/>
            <a:ext cx="6399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11044738" y="869677"/>
            <a:ext cx="7438912" cy="10452248"/>
          </a:xfrm>
          <a:custGeom>
            <a:avLst/>
            <a:gdLst/>
            <a:ahLst/>
            <a:cxnLst/>
            <a:rect r="r" b="b" t="t" l="l"/>
            <a:pathLst>
              <a:path h="10452248" w="7438912">
                <a:moveTo>
                  <a:pt x="0" y="0"/>
                </a:moveTo>
                <a:lnTo>
                  <a:pt x="7438913" y="0"/>
                </a:lnTo>
                <a:lnTo>
                  <a:pt x="7438913" y="10452247"/>
                </a:lnTo>
                <a:lnTo>
                  <a:pt x="0" y="104522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507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783238" y="7565437"/>
            <a:ext cx="2184172" cy="3013811"/>
          </a:xfrm>
          <a:custGeom>
            <a:avLst/>
            <a:gdLst/>
            <a:ahLst/>
            <a:cxnLst/>
            <a:rect r="r" b="b" t="t" l="l"/>
            <a:pathLst>
              <a:path h="3013811" w="2184172">
                <a:moveTo>
                  <a:pt x="0" y="0"/>
                </a:moveTo>
                <a:lnTo>
                  <a:pt x="2184173" y="0"/>
                </a:lnTo>
                <a:lnTo>
                  <a:pt x="2184173" y="3013810"/>
                </a:lnTo>
                <a:lnTo>
                  <a:pt x="0" y="3013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3984" r="-140071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7023838" y="447714"/>
            <a:ext cx="12287011" cy="211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42"/>
              </a:lnSpc>
            </a:pPr>
            <a:r>
              <a:rPr lang="en-US" sz="1482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PLAN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-524871" y="9504994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99491" y="2068669"/>
            <a:ext cx="2007045" cy="152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4"/>
              </a:lnSpc>
            </a:pPr>
            <a:r>
              <a:rPr lang="en-US" sz="8903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Plan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3480565" y="6212984"/>
            <a:ext cx="5882693" cy="726295"/>
            <a:chOff x="0" y="0"/>
            <a:chExt cx="1550371" cy="19141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50371" cy="191414"/>
            </a:xfrm>
            <a:custGeom>
              <a:avLst/>
              <a:gdLst/>
              <a:ahLst/>
              <a:cxnLst/>
              <a:rect r="r" b="b" t="t" l="l"/>
              <a:pathLst>
                <a:path h="191414" w="1550371">
                  <a:moveTo>
                    <a:pt x="95707" y="0"/>
                  </a:moveTo>
                  <a:lnTo>
                    <a:pt x="1454664" y="0"/>
                  </a:lnTo>
                  <a:cubicBezTo>
                    <a:pt x="1507521" y="0"/>
                    <a:pt x="1550371" y="42849"/>
                    <a:pt x="1550371" y="95707"/>
                  </a:cubicBezTo>
                  <a:lnTo>
                    <a:pt x="1550371" y="95707"/>
                  </a:lnTo>
                  <a:cubicBezTo>
                    <a:pt x="1550371" y="121090"/>
                    <a:pt x="1540287" y="145433"/>
                    <a:pt x="1522339" y="163382"/>
                  </a:cubicBezTo>
                  <a:cubicBezTo>
                    <a:pt x="1504391" y="181330"/>
                    <a:pt x="1480047" y="191414"/>
                    <a:pt x="1454664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550371" cy="22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235025" y="6189172"/>
            <a:ext cx="717393" cy="773920"/>
            <a:chOff x="0" y="0"/>
            <a:chExt cx="753433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53433" cy="812800"/>
            </a:xfrm>
            <a:custGeom>
              <a:avLst/>
              <a:gdLst/>
              <a:ahLst/>
              <a:cxnLst/>
              <a:rect r="r" b="b" t="t" l="l"/>
              <a:pathLst>
                <a:path h="812800" w="753433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0634" y="9525"/>
              <a:ext cx="6121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1D3163"/>
                  </a:solidFill>
                  <a:latin typeface="Bungee"/>
                  <a:ea typeface="Bungee"/>
                  <a:cs typeface="Bungee"/>
                  <a:sym typeface="Bungee"/>
                </a:rPr>
                <a:t>6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3852762" y="6369711"/>
            <a:ext cx="510001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8" b="true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Évaluation</a:t>
            </a:r>
          </a:p>
        </p:txBody>
      </p:sp>
      <p:sp>
        <p:nvSpPr>
          <p:cNvPr name="AutoShape 57" id="57"/>
          <p:cNvSpPr/>
          <p:nvPr/>
        </p:nvSpPr>
        <p:spPr>
          <a:xfrm>
            <a:off x="2840571" y="6584023"/>
            <a:ext cx="6399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3480565" y="7186930"/>
            <a:ext cx="5882693" cy="726295"/>
            <a:chOff x="0" y="0"/>
            <a:chExt cx="1550371" cy="19141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50371" cy="191414"/>
            </a:xfrm>
            <a:custGeom>
              <a:avLst/>
              <a:gdLst/>
              <a:ahLst/>
              <a:cxnLst/>
              <a:rect r="r" b="b" t="t" l="l"/>
              <a:pathLst>
                <a:path h="191414" w="1550371">
                  <a:moveTo>
                    <a:pt x="95707" y="0"/>
                  </a:moveTo>
                  <a:lnTo>
                    <a:pt x="1454664" y="0"/>
                  </a:lnTo>
                  <a:cubicBezTo>
                    <a:pt x="1507521" y="0"/>
                    <a:pt x="1550371" y="42849"/>
                    <a:pt x="1550371" y="95707"/>
                  </a:cubicBezTo>
                  <a:lnTo>
                    <a:pt x="1550371" y="95707"/>
                  </a:lnTo>
                  <a:cubicBezTo>
                    <a:pt x="1550371" y="121090"/>
                    <a:pt x="1540287" y="145433"/>
                    <a:pt x="1522339" y="163382"/>
                  </a:cubicBezTo>
                  <a:cubicBezTo>
                    <a:pt x="1504391" y="181330"/>
                    <a:pt x="1480047" y="191414"/>
                    <a:pt x="1454664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550371" cy="22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235025" y="7163117"/>
            <a:ext cx="717393" cy="773920"/>
            <a:chOff x="0" y="0"/>
            <a:chExt cx="753433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53433" cy="812800"/>
            </a:xfrm>
            <a:custGeom>
              <a:avLst/>
              <a:gdLst/>
              <a:ahLst/>
              <a:cxnLst/>
              <a:rect r="r" b="b" t="t" l="l"/>
              <a:pathLst>
                <a:path h="812800" w="753433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70634" y="9525"/>
              <a:ext cx="6121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1D3163"/>
                  </a:solidFill>
                  <a:latin typeface="Bungee"/>
                  <a:ea typeface="Bungee"/>
                  <a:cs typeface="Bungee"/>
                  <a:sym typeface="Bungee"/>
                </a:rPr>
                <a:t>7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3852762" y="7343656"/>
            <a:ext cx="487354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8" b="true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Interprétabilité - Grad-CAM</a:t>
            </a:r>
          </a:p>
        </p:txBody>
      </p:sp>
      <p:sp>
        <p:nvSpPr>
          <p:cNvPr name="AutoShape 65" id="65"/>
          <p:cNvSpPr/>
          <p:nvPr/>
        </p:nvSpPr>
        <p:spPr>
          <a:xfrm>
            <a:off x="2840571" y="7557969"/>
            <a:ext cx="6399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6" id="66"/>
          <p:cNvGrpSpPr/>
          <p:nvPr/>
        </p:nvGrpSpPr>
        <p:grpSpPr>
          <a:xfrm rot="0">
            <a:off x="3480565" y="8160179"/>
            <a:ext cx="5882693" cy="726295"/>
            <a:chOff x="0" y="0"/>
            <a:chExt cx="1550371" cy="19141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550371" cy="191414"/>
            </a:xfrm>
            <a:custGeom>
              <a:avLst/>
              <a:gdLst/>
              <a:ahLst/>
              <a:cxnLst/>
              <a:rect r="r" b="b" t="t" l="l"/>
              <a:pathLst>
                <a:path h="191414" w="1550371">
                  <a:moveTo>
                    <a:pt x="95707" y="0"/>
                  </a:moveTo>
                  <a:lnTo>
                    <a:pt x="1454664" y="0"/>
                  </a:lnTo>
                  <a:cubicBezTo>
                    <a:pt x="1507521" y="0"/>
                    <a:pt x="1550371" y="42849"/>
                    <a:pt x="1550371" y="95707"/>
                  </a:cubicBezTo>
                  <a:lnTo>
                    <a:pt x="1550371" y="95707"/>
                  </a:lnTo>
                  <a:cubicBezTo>
                    <a:pt x="1550371" y="121090"/>
                    <a:pt x="1540287" y="145433"/>
                    <a:pt x="1522339" y="163382"/>
                  </a:cubicBezTo>
                  <a:cubicBezTo>
                    <a:pt x="1504391" y="181330"/>
                    <a:pt x="1480047" y="191414"/>
                    <a:pt x="1454664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550371" cy="22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235025" y="8136366"/>
            <a:ext cx="717393" cy="773920"/>
            <a:chOff x="0" y="0"/>
            <a:chExt cx="753433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53433" cy="812800"/>
            </a:xfrm>
            <a:custGeom>
              <a:avLst/>
              <a:gdLst/>
              <a:ahLst/>
              <a:cxnLst/>
              <a:rect r="r" b="b" t="t" l="l"/>
              <a:pathLst>
                <a:path h="812800" w="753433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70634" y="9525"/>
              <a:ext cx="6121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1D3163"/>
                  </a:solidFill>
                  <a:latin typeface="Bungee"/>
                  <a:ea typeface="Bungee"/>
                  <a:cs typeface="Bungee"/>
                  <a:sym typeface="Bungee"/>
                </a:rPr>
                <a:t>8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3852762" y="8316905"/>
            <a:ext cx="510001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8" b="true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Conclusion Et Perspectives</a:t>
            </a:r>
          </a:p>
        </p:txBody>
      </p:sp>
      <p:sp>
        <p:nvSpPr>
          <p:cNvPr name="AutoShape 73" id="73"/>
          <p:cNvSpPr/>
          <p:nvPr/>
        </p:nvSpPr>
        <p:spPr>
          <a:xfrm>
            <a:off x="2840571" y="8531218"/>
            <a:ext cx="6399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304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8066" y="3141108"/>
            <a:ext cx="17431867" cy="6478186"/>
            <a:chOff x="0" y="0"/>
            <a:chExt cx="4413726" cy="16402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3726" cy="1640268"/>
            </a:xfrm>
            <a:custGeom>
              <a:avLst/>
              <a:gdLst/>
              <a:ahLst/>
              <a:cxnLst/>
              <a:rect r="r" b="b" t="t" l="l"/>
              <a:pathLst>
                <a:path h="1640268" w="4413726">
                  <a:moveTo>
                    <a:pt x="35530" y="0"/>
                  </a:moveTo>
                  <a:lnTo>
                    <a:pt x="4378196" y="0"/>
                  </a:lnTo>
                  <a:cubicBezTo>
                    <a:pt x="4397819" y="0"/>
                    <a:pt x="4413726" y="15907"/>
                    <a:pt x="4413726" y="35530"/>
                  </a:cubicBezTo>
                  <a:lnTo>
                    <a:pt x="4413726" y="1604738"/>
                  </a:lnTo>
                  <a:cubicBezTo>
                    <a:pt x="4413726" y="1624361"/>
                    <a:pt x="4397819" y="1640268"/>
                    <a:pt x="4378196" y="1640268"/>
                  </a:cubicBezTo>
                  <a:lnTo>
                    <a:pt x="35530" y="1640268"/>
                  </a:lnTo>
                  <a:cubicBezTo>
                    <a:pt x="15907" y="1640268"/>
                    <a:pt x="0" y="1624361"/>
                    <a:pt x="0" y="1604738"/>
                  </a:cubicBezTo>
                  <a:lnTo>
                    <a:pt x="0" y="35530"/>
                  </a:lnTo>
                  <a:cubicBezTo>
                    <a:pt x="0" y="15907"/>
                    <a:pt x="15907" y="0"/>
                    <a:pt x="35530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13726" cy="1678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050" y="-1110542"/>
            <a:ext cx="20086919" cy="1543050"/>
            <a:chOff x="0" y="0"/>
            <a:chExt cx="5290382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90382" cy="406400"/>
            </a:xfrm>
            <a:custGeom>
              <a:avLst/>
              <a:gdLst/>
              <a:ahLst/>
              <a:cxnLst/>
              <a:rect r="r" b="b" t="t" l="l"/>
              <a:pathLst>
                <a:path h="406400" w="5290382">
                  <a:moveTo>
                    <a:pt x="0" y="0"/>
                  </a:moveTo>
                  <a:lnTo>
                    <a:pt x="5290382" y="0"/>
                  </a:lnTo>
                  <a:lnTo>
                    <a:pt x="5290382" y="406400"/>
                  </a:lnTo>
                  <a:lnTo>
                    <a:pt x="0" y="4064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29038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4908" y="7268704"/>
            <a:ext cx="16230600" cy="1772705"/>
            <a:chOff x="0" y="0"/>
            <a:chExt cx="4109567" cy="4488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09567" cy="448847"/>
            </a:xfrm>
            <a:custGeom>
              <a:avLst/>
              <a:gdLst/>
              <a:ahLst/>
              <a:cxnLst/>
              <a:rect r="r" b="b" t="t" l="l"/>
              <a:pathLst>
                <a:path h="448847" w="4109567">
                  <a:moveTo>
                    <a:pt x="38160" y="0"/>
                  </a:moveTo>
                  <a:lnTo>
                    <a:pt x="4071407" y="0"/>
                  </a:lnTo>
                  <a:cubicBezTo>
                    <a:pt x="4092482" y="0"/>
                    <a:pt x="4109567" y="17085"/>
                    <a:pt x="4109567" y="38160"/>
                  </a:cubicBezTo>
                  <a:lnTo>
                    <a:pt x="4109567" y="410687"/>
                  </a:lnTo>
                  <a:cubicBezTo>
                    <a:pt x="4109567" y="431762"/>
                    <a:pt x="4092482" y="448847"/>
                    <a:pt x="4071407" y="448847"/>
                  </a:cubicBezTo>
                  <a:lnTo>
                    <a:pt x="38160" y="448847"/>
                  </a:lnTo>
                  <a:cubicBezTo>
                    <a:pt x="17085" y="448847"/>
                    <a:pt x="0" y="431762"/>
                    <a:pt x="0" y="410687"/>
                  </a:cubicBezTo>
                  <a:lnTo>
                    <a:pt x="0" y="38160"/>
                  </a:lnTo>
                  <a:cubicBezTo>
                    <a:pt x="0" y="17085"/>
                    <a:pt x="17085" y="0"/>
                    <a:pt x="38160" y="0"/>
                  </a:cubicBezTo>
                  <a:close/>
                </a:path>
              </a:pathLst>
            </a:custGeom>
            <a:solidFill>
              <a:srgbClr val="304883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09567" cy="486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816618" y="861133"/>
            <a:ext cx="15442682" cy="110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7700">
                <a:solidFill>
                  <a:srgbClr val="CCEBFF"/>
                </a:solidFill>
                <a:latin typeface="Bungee"/>
                <a:ea typeface="Bungee"/>
                <a:cs typeface="Bungee"/>
                <a:sym typeface="Bungee"/>
              </a:rPr>
              <a:t>Introduction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524871" y="9638344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88825" y="1348868"/>
            <a:ext cx="3073767" cy="110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74"/>
              </a:lnSpc>
            </a:pPr>
            <a:r>
              <a:rPr lang="en-US" sz="64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99699" y="7400201"/>
            <a:ext cx="14221017" cy="146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812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Développer un système capable de détecter et classifier automatiquement les besoins d'un bébé à partir de ses pleurs audio, grâce à des architectures de deep learning.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2492" y="5970017"/>
            <a:ext cx="2274414" cy="110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74"/>
              </a:lnSpc>
            </a:pPr>
            <a:r>
              <a:rPr lang="en-US" sz="64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Objectif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8655" y="10037646"/>
            <a:ext cx="17970690" cy="2809662"/>
            <a:chOff x="0" y="0"/>
            <a:chExt cx="4733021" cy="7399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33021" cy="739993"/>
            </a:xfrm>
            <a:custGeom>
              <a:avLst/>
              <a:gdLst/>
              <a:ahLst/>
              <a:cxnLst/>
              <a:rect r="r" b="b" t="t" l="l"/>
              <a:pathLst>
                <a:path h="739993" w="4733021">
                  <a:moveTo>
                    <a:pt x="34465" y="0"/>
                  </a:moveTo>
                  <a:lnTo>
                    <a:pt x="4698557" y="0"/>
                  </a:lnTo>
                  <a:cubicBezTo>
                    <a:pt x="4707697" y="0"/>
                    <a:pt x="4716463" y="3631"/>
                    <a:pt x="4722927" y="10094"/>
                  </a:cubicBezTo>
                  <a:cubicBezTo>
                    <a:pt x="4729390" y="16558"/>
                    <a:pt x="4733021" y="25324"/>
                    <a:pt x="4733021" y="34465"/>
                  </a:cubicBezTo>
                  <a:lnTo>
                    <a:pt x="4733021" y="705529"/>
                  </a:lnTo>
                  <a:cubicBezTo>
                    <a:pt x="4733021" y="714669"/>
                    <a:pt x="4729390" y="723436"/>
                    <a:pt x="4722927" y="729899"/>
                  </a:cubicBezTo>
                  <a:cubicBezTo>
                    <a:pt x="4716463" y="736362"/>
                    <a:pt x="4707697" y="739993"/>
                    <a:pt x="4698557" y="739993"/>
                  </a:cubicBezTo>
                  <a:lnTo>
                    <a:pt x="34465" y="739993"/>
                  </a:lnTo>
                  <a:cubicBezTo>
                    <a:pt x="25324" y="739993"/>
                    <a:pt x="16558" y="736362"/>
                    <a:pt x="10094" y="729899"/>
                  </a:cubicBezTo>
                  <a:cubicBezTo>
                    <a:pt x="3631" y="723436"/>
                    <a:pt x="0" y="714669"/>
                    <a:pt x="0" y="705529"/>
                  </a:cubicBezTo>
                  <a:lnTo>
                    <a:pt x="0" y="34465"/>
                  </a:lnTo>
                  <a:cubicBezTo>
                    <a:pt x="0" y="25324"/>
                    <a:pt x="3631" y="16558"/>
                    <a:pt x="10094" y="10094"/>
                  </a:cubicBezTo>
                  <a:cubicBezTo>
                    <a:pt x="16558" y="3631"/>
                    <a:pt x="25324" y="0"/>
                    <a:pt x="34465" y="0"/>
                  </a:cubicBezTo>
                  <a:close/>
                </a:path>
              </a:pathLst>
            </a:custGeom>
            <a:solidFill>
              <a:srgbClr val="F2AC3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733021" cy="778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59197" y="3466018"/>
            <a:ext cx="14712676" cy="223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3779" indent="-341889" lvl="1">
              <a:lnSpc>
                <a:spcPts val="4433"/>
              </a:lnSpc>
              <a:buFont typeface="Arial"/>
              <a:buChar char="•"/>
            </a:pPr>
            <a:r>
              <a:rPr lang="en-US" b="true" sz="3167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Les nouveau-nés communiquent uniquement par les pleurs</a:t>
            </a:r>
          </a:p>
          <a:p>
            <a:pPr algn="l" marL="683779" indent="-341889" lvl="1">
              <a:lnSpc>
                <a:spcPts val="4433"/>
              </a:lnSpc>
              <a:buFont typeface="Arial"/>
              <a:buChar char="•"/>
            </a:pPr>
            <a:r>
              <a:rPr lang="en-US" b="true" sz="3167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Interprétation difficile même pour les parents expérimentés</a:t>
            </a:r>
          </a:p>
          <a:p>
            <a:pPr algn="l" marL="683779" indent="-341889" lvl="1">
              <a:lnSpc>
                <a:spcPts val="4433"/>
              </a:lnSpc>
              <a:buFont typeface="Arial"/>
              <a:buChar char="•"/>
            </a:pPr>
            <a:r>
              <a:rPr lang="en-US" b="true" sz="3167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Les pleurs varient selon le besoin : faim, douleur, fatigue…</a:t>
            </a:r>
          </a:p>
          <a:p>
            <a:pPr algn="l" marL="683779" indent="-341889" lvl="1">
              <a:lnSpc>
                <a:spcPts val="4433"/>
              </a:lnSpc>
              <a:buFont typeface="Arial"/>
              <a:buChar char="•"/>
            </a:pPr>
            <a:r>
              <a:rPr lang="en-US" b="true" sz="3167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Potentiel fort pour des applications mobiles d'aide parentale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8066" y="3141108"/>
            <a:ext cx="17431867" cy="6478186"/>
            <a:chOff x="0" y="0"/>
            <a:chExt cx="4413726" cy="16402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3726" cy="1640268"/>
            </a:xfrm>
            <a:custGeom>
              <a:avLst/>
              <a:gdLst/>
              <a:ahLst/>
              <a:cxnLst/>
              <a:rect r="r" b="b" t="t" l="l"/>
              <a:pathLst>
                <a:path h="1640268" w="4413726">
                  <a:moveTo>
                    <a:pt x="35530" y="0"/>
                  </a:moveTo>
                  <a:lnTo>
                    <a:pt x="4378196" y="0"/>
                  </a:lnTo>
                  <a:cubicBezTo>
                    <a:pt x="4397819" y="0"/>
                    <a:pt x="4413726" y="15907"/>
                    <a:pt x="4413726" y="35530"/>
                  </a:cubicBezTo>
                  <a:lnTo>
                    <a:pt x="4413726" y="1604738"/>
                  </a:lnTo>
                  <a:cubicBezTo>
                    <a:pt x="4413726" y="1624361"/>
                    <a:pt x="4397819" y="1640268"/>
                    <a:pt x="4378196" y="1640268"/>
                  </a:cubicBezTo>
                  <a:lnTo>
                    <a:pt x="35530" y="1640268"/>
                  </a:lnTo>
                  <a:cubicBezTo>
                    <a:pt x="15907" y="1640268"/>
                    <a:pt x="0" y="1624361"/>
                    <a:pt x="0" y="1604738"/>
                  </a:cubicBezTo>
                  <a:lnTo>
                    <a:pt x="0" y="35530"/>
                  </a:lnTo>
                  <a:cubicBezTo>
                    <a:pt x="0" y="15907"/>
                    <a:pt x="15907" y="0"/>
                    <a:pt x="35530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13726" cy="1678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02050" y="-1110542"/>
            <a:ext cx="20086919" cy="1543050"/>
            <a:chOff x="0" y="0"/>
            <a:chExt cx="5290382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90382" cy="406400"/>
            </a:xfrm>
            <a:custGeom>
              <a:avLst/>
              <a:gdLst/>
              <a:ahLst/>
              <a:cxnLst/>
              <a:rect r="r" b="b" t="t" l="l"/>
              <a:pathLst>
                <a:path h="406400" w="5290382">
                  <a:moveTo>
                    <a:pt x="0" y="0"/>
                  </a:moveTo>
                  <a:lnTo>
                    <a:pt x="5290382" y="0"/>
                  </a:lnTo>
                  <a:lnTo>
                    <a:pt x="5290382" y="406400"/>
                  </a:lnTo>
                  <a:lnTo>
                    <a:pt x="0" y="4064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29038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7163" y="8292948"/>
            <a:ext cx="1701893" cy="852084"/>
            <a:chOff x="0" y="0"/>
            <a:chExt cx="1005509" cy="5034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509" cy="503427"/>
            </a:xfrm>
            <a:custGeom>
              <a:avLst/>
              <a:gdLst/>
              <a:ahLst/>
              <a:cxnLst/>
              <a:rect r="r" b="b" t="t" l="l"/>
              <a:pathLst>
                <a:path h="503427" w="1005509">
                  <a:moveTo>
                    <a:pt x="251714" y="0"/>
                  </a:moveTo>
                  <a:lnTo>
                    <a:pt x="753796" y="0"/>
                  </a:lnTo>
                  <a:cubicBezTo>
                    <a:pt x="892813" y="0"/>
                    <a:pt x="1005509" y="112696"/>
                    <a:pt x="1005509" y="251714"/>
                  </a:cubicBezTo>
                  <a:lnTo>
                    <a:pt x="1005509" y="251714"/>
                  </a:lnTo>
                  <a:cubicBezTo>
                    <a:pt x="1005509" y="390731"/>
                    <a:pt x="892813" y="503427"/>
                    <a:pt x="753796" y="503427"/>
                  </a:cubicBezTo>
                  <a:lnTo>
                    <a:pt x="251714" y="503427"/>
                  </a:lnTo>
                  <a:cubicBezTo>
                    <a:pt x="112696" y="503427"/>
                    <a:pt x="0" y="390731"/>
                    <a:pt x="0" y="251714"/>
                  </a:cubicBezTo>
                  <a:lnTo>
                    <a:pt x="0" y="251714"/>
                  </a:lnTo>
                  <a:cubicBezTo>
                    <a:pt x="0" y="112696"/>
                    <a:pt x="112696" y="0"/>
                    <a:pt x="251714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005509" cy="522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36908" y="8292948"/>
            <a:ext cx="1701893" cy="852084"/>
            <a:chOff x="0" y="0"/>
            <a:chExt cx="1005509" cy="5034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5509" cy="503427"/>
            </a:xfrm>
            <a:custGeom>
              <a:avLst/>
              <a:gdLst/>
              <a:ahLst/>
              <a:cxnLst/>
              <a:rect r="r" b="b" t="t" l="l"/>
              <a:pathLst>
                <a:path h="503427" w="1005509">
                  <a:moveTo>
                    <a:pt x="251714" y="0"/>
                  </a:moveTo>
                  <a:lnTo>
                    <a:pt x="753796" y="0"/>
                  </a:lnTo>
                  <a:cubicBezTo>
                    <a:pt x="892813" y="0"/>
                    <a:pt x="1005509" y="112696"/>
                    <a:pt x="1005509" y="251714"/>
                  </a:cubicBezTo>
                  <a:lnTo>
                    <a:pt x="1005509" y="251714"/>
                  </a:lnTo>
                  <a:cubicBezTo>
                    <a:pt x="1005509" y="390731"/>
                    <a:pt x="892813" y="503427"/>
                    <a:pt x="753796" y="503427"/>
                  </a:cubicBezTo>
                  <a:lnTo>
                    <a:pt x="251714" y="503427"/>
                  </a:lnTo>
                  <a:cubicBezTo>
                    <a:pt x="112696" y="503427"/>
                    <a:pt x="0" y="390731"/>
                    <a:pt x="0" y="251714"/>
                  </a:cubicBezTo>
                  <a:lnTo>
                    <a:pt x="0" y="251714"/>
                  </a:lnTo>
                  <a:cubicBezTo>
                    <a:pt x="0" y="112696"/>
                    <a:pt x="112696" y="0"/>
                    <a:pt x="251714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05509" cy="522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256652" y="8292948"/>
            <a:ext cx="1701893" cy="852084"/>
            <a:chOff x="0" y="0"/>
            <a:chExt cx="1005509" cy="5034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509" cy="503427"/>
            </a:xfrm>
            <a:custGeom>
              <a:avLst/>
              <a:gdLst/>
              <a:ahLst/>
              <a:cxnLst/>
              <a:rect r="r" b="b" t="t" l="l"/>
              <a:pathLst>
                <a:path h="503427" w="1005509">
                  <a:moveTo>
                    <a:pt x="251714" y="0"/>
                  </a:moveTo>
                  <a:lnTo>
                    <a:pt x="753796" y="0"/>
                  </a:lnTo>
                  <a:cubicBezTo>
                    <a:pt x="892813" y="0"/>
                    <a:pt x="1005509" y="112696"/>
                    <a:pt x="1005509" y="251714"/>
                  </a:cubicBezTo>
                  <a:lnTo>
                    <a:pt x="1005509" y="251714"/>
                  </a:lnTo>
                  <a:cubicBezTo>
                    <a:pt x="1005509" y="390731"/>
                    <a:pt x="892813" y="503427"/>
                    <a:pt x="753796" y="503427"/>
                  </a:cubicBezTo>
                  <a:lnTo>
                    <a:pt x="251714" y="503427"/>
                  </a:lnTo>
                  <a:cubicBezTo>
                    <a:pt x="112696" y="503427"/>
                    <a:pt x="0" y="390731"/>
                    <a:pt x="0" y="251714"/>
                  </a:cubicBezTo>
                  <a:lnTo>
                    <a:pt x="0" y="251714"/>
                  </a:lnTo>
                  <a:cubicBezTo>
                    <a:pt x="0" y="112696"/>
                    <a:pt x="112696" y="0"/>
                    <a:pt x="251714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005509" cy="522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076397" y="8292948"/>
            <a:ext cx="1701893" cy="852084"/>
            <a:chOff x="0" y="0"/>
            <a:chExt cx="1005509" cy="5034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509" cy="503427"/>
            </a:xfrm>
            <a:custGeom>
              <a:avLst/>
              <a:gdLst/>
              <a:ahLst/>
              <a:cxnLst/>
              <a:rect r="r" b="b" t="t" l="l"/>
              <a:pathLst>
                <a:path h="503427" w="1005509">
                  <a:moveTo>
                    <a:pt x="251714" y="0"/>
                  </a:moveTo>
                  <a:lnTo>
                    <a:pt x="753796" y="0"/>
                  </a:lnTo>
                  <a:cubicBezTo>
                    <a:pt x="892813" y="0"/>
                    <a:pt x="1005509" y="112696"/>
                    <a:pt x="1005509" y="251714"/>
                  </a:cubicBezTo>
                  <a:lnTo>
                    <a:pt x="1005509" y="251714"/>
                  </a:lnTo>
                  <a:cubicBezTo>
                    <a:pt x="1005509" y="390731"/>
                    <a:pt x="892813" y="503427"/>
                    <a:pt x="753796" y="503427"/>
                  </a:cubicBezTo>
                  <a:lnTo>
                    <a:pt x="251714" y="503427"/>
                  </a:lnTo>
                  <a:cubicBezTo>
                    <a:pt x="112696" y="503427"/>
                    <a:pt x="0" y="390731"/>
                    <a:pt x="0" y="251714"/>
                  </a:cubicBezTo>
                  <a:lnTo>
                    <a:pt x="0" y="251714"/>
                  </a:lnTo>
                  <a:cubicBezTo>
                    <a:pt x="0" y="112696"/>
                    <a:pt x="112696" y="0"/>
                    <a:pt x="251714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05509" cy="522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96141" y="8292948"/>
            <a:ext cx="1701893" cy="852084"/>
            <a:chOff x="0" y="0"/>
            <a:chExt cx="1005509" cy="5034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509" cy="503427"/>
            </a:xfrm>
            <a:custGeom>
              <a:avLst/>
              <a:gdLst/>
              <a:ahLst/>
              <a:cxnLst/>
              <a:rect r="r" b="b" t="t" l="l"/>
              <a:pathLst>
                <a:path h="503427" w="1005509">
                  <a:moveTo>
                    <a:pt x="251714" y="0"/>
                  </a:moveTo>
                  <a:lnTo>
                    <a:pt x="753796" y="0"/>
                  </a:lnTo>
                  <a:cubicBezTo>
                    <a:pt x="892813" y="0"/>
                    <a:pt x="1005509" y="112696"/>
                    <a:pt x="1005509" y="251714"/>
                  </a:cubicBezTo>
                  <a:lnTo>
                    <a:pt x="1005509" y="251714"/>
                  </a:lnTo>
                  <a:cubicBezTo>
                    <a:pt x="1005509" y="390731"/>
                    <a:pt x="892813" y="503427"/>
                    <a:pt x="753796" y="503427"/>
                  </a:cubicBezTo>
                  <a:lnTo>
                    <a:pt x="251714" y="503427"/>
                  </a:lnTo>
                  <a:cubicBezTo>
                    <a:pt x="112696" y="503427"/>
                    <a:pt x="0" y="390731"/>
                    <a:pt x="0" y="251714"/>
                  </a:cubicBezTo>
                  <a:lnTo>
                    <a:pt x="0" y="251714"/>
                  </a:lnTo>
                  <a:cubicBezTo>
                    <a:pt x="0" y="112696"/>
                    <a:pt x="112696" y="0"/>
                    <a:pt x="251714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05509" cy="522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40730" y="8577844"/>
            <a:ext cx="857146" cy="26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90"/>
              </a:lnSpc>
              <a:spcBef>
                <a:spcPct val="0"/>
              </a:spcBef>
            </a:pPr>
            <a:r>
              <a:rPr lang="en-US" b="true" sz="1636" spc="-58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Hungry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02122" y="8577844"/>
            <a:ext cx="573852" cy="26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90"/>
              </a:lnSpc>
              <a:spcBef>
                <a:spcPct val="0"/>
              </a:spcBef>
            </a:pPr>
            <a:r>
              <a:rPr lang="en-US" b="true" sz="1636" spc="-58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Tired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36105" y="8577844"/>
            <a:ext cx="1145374" cy="26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90"/>
              </a:lnSpc>
              <a:spcBef>
                <a:spcPct val="0"/>
              </a:spcBef>
            </a:pPr>
            <a:r>
              <a:rPr lang="en-US" b="true" sz="1636" spc="-58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Discomfort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60629" y="8577844"/>
            <a:ext cx="935816" cy="26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90"/>
              </a:lnSpc>
              <a:spcBef>
                <a:spcPct val="0"/>
              </a:spcBef>
            </a:pPr>
            <a:r>
              <a:rPr lang="en-US" b="true" sz="1636" spc="-58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Belly Pain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52563" y="8577844"/>
            <a:ext cx="791437" cy="26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90"/>
              </a:lnSpc>
              <a:spcBef>
                <a:spcPct val="0"/>
              </a:spcBef>
            </a:pPr>
            <a:r>
              <a:rPr lang="en-US" b="true" sz="1636" spc="-58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Burping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63166" y="3826090"/>
            <a:ext cx="8688866" cy="3868819"/>
            <a:chOff x="0" y="0"/>
            <a:chExt cx="11585155" cy="5158426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387488" y="-95250"/>
              <a:ext cx="6079606" cy="1117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44"/>
                </a:lnSpc>
              </a:pPr>
              <a:r>
                <a:rPr lang="en-US" sz="5032">
                  <a:solidFill>
                    <a:srgbClr val="9AB7FF"/>
                  </a:solidFill>
                  <a:latin typeface="Brittany"/>
                  <a:ea typeface="Brittany"/>
                  <a:cs typeface="Brittany"/>
                  <a:sym typeface="Brittany"/>
                </a:rPr>
                <a:t>Choix de la Dataset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0" y="314096"/>
              <a:ext cx="11585155" cy="4844330"/>
              <a:chOff x="0" y="0"/>
              <a:chExt cx="2275733" cy="95159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275733" cy="951597"/>
              </a:xfrm>
              <a:custGeom>
                <a:avLst/>
                <a:gdLst/>
                <a:ahLst/>
                <a:cxnLst/>
                <a:rect r="r" b="b" t="t" l="l"/>
                <a:pathLst>
                  <a:path h="951597" w="2275733">
                    <a:moveTo>
                      <a:pt x="116070" y="0"/>
                    </a:moveTo>
                    <a:lnTo>
                      <a:pt x="2159663" y="0"/>
                    </a:lnTo>
                    <a:cubicBezTo>
                      <a:pt x="2190447" y="0"/>
                      <a:pt x="2219970" y="12229"/>
                      <a:pt x="2241737" y="33996"/>
                    </a:cubicBezTo>
                    <a:cubicBezTo>
                      <a:pt x="2263504" y="55764"/>
                      <a:pt x="2275733" y="85287"/>
                      <a:pt x="2275733" y="116070"/>
                    </a:cubicBezTo>
                    <a:lnTo>
                      <a:pt x="2275733" y="835527"/>
                    </a:lnTo>
                    <a:cubicBezTo>
                      <a:pt x="2275733" y="866311"/>
                      <a:pt x="2263504" y="895834"/>
                      <a:pt x="2241737" y="917601"/>
                    </a:cubicBezTo>
                    <a:cubicBezTo>
                      <a:pt x="2219970" y="939368"/>
                      <a:pt x="2190447" y="951597"/>
                      <a:pt x="2159663" y="951597"/>
                    </a:cubicBezTo>
                    <a:lnTo>
                      <a:pt x="116070" y="951597"/>
                    </a:lnTo>
                    <a:cubicBezTo>
                      <a:pt x="85287" y="951597"/>
                      <a:pt x="55764" y="939368"/>
                      <a:pt x="33996" y="917601"/>
                    </a:cubicBezTo>
                    <a:cubicBezTo>
                      <a:pt x="12229" y="895834"/>
                      <a:pt x="0" y="866311"/>
                      <a:pt x="0" y="835527"/>
                    </a:cubicBezTo>
                    <a:lnTo>
                      <a:pt x="0" y="116070"/>
                    </a:lnTo>
                    <a:cubicBezTo>
                      <a:pt x="0" y="85287"/>
                      <a:pt x="12229" y="55764"/>
                      <a:pt x="33996" y="33996"/>
                    </a:cubicBezTo>
                    <a:cubicBezTo>
                      <a:pt x="55764" y="12229"/>
                      <a:pt x="85287" y="0"/>
                      <a:pt x="116070" y="0"/>
                    </a:cubicBezTo>
                    <a:close/>
                  </a:path>
                </a:pathLst>
              </a:custGeom>
              <a:ln w="2857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2275733" cy="980172"/>
              </a:xfrm>
              <a:prstGeom prst="rect">
                <a:avLst/>
              </a:prstGeom>
            </p:spPr>
            <p:txBody>
              <a:bodyPr anchor="ctr" rtlCol="false" tIns="47148" lIns="47148" bIns="47148" rIns="47148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949119" y="1137616"/>
              <a:ext cx="7750886" cy="3758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36"/>
                </a:lnSpc>
              </a:pPr>
              <a:r>
                <a:rPr lang="en-US" sz="2311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Dataset choisi : </a:t>
              </a:r>
            </a:p>
            <a:p>
              <a:pPr algn="l">
                <a:lnSpc>
                  <a:spcPts val="3236"/>
                </a:lnSpc>
              </a:pPr>
              <a:r>
                <a:rPr lang="en-US" sz="2311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donate-a-cry-corpus-features-dataset</a:t>
              </a:r>
            </a:p>
            <a:p>
              <a:pPr algn="l">
                <a:lnSpc>
                  <a:spcPts val="3236"/>
                </a:lnSpc>
              </a:pPr>
              <a:r>
                <a:rPr lang="en-US" sz="2311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sur Kaggle</a:t>
              </a:r>
            </a:p>
            <a:p>
              <a:pPr algn="l">
                <a:lnSpc>
                  <a:spcPts val="3236"/>
                </a:lnSpc>
              </a:pPr>
            </a:p>
            <a:p>
              <a:pPr algn="l" marL="499113" indent="-249557" lvl="1">
                <a:lnSpc>
                  <a:spcPts val="3236"/>
                </a:lnSpc>
                <a:buFont typeface="Arial"/>
                <a:buChar char="•"/>
              </a:pPr>
              <a:r>
                <a:rPr lang="en-US" b="true" sz="231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457 fichiers audios </a:t>
              </a:r>
            </a:p>
            <a:p>
              <a:pPr algn="l" marL="499113" indent="-249557" lvl="1">
                <a:lnSpc>
                  <a:spcPts val="3236"/>
                </a:lnSpc>
                <a:buFont typeface="Arial"/>
                <a:buChar char="•"/>
              </a:pPr>
              <a:r>
                <a:rPr lang="en-US" b="true" sz="231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durée ~ 7 secondes / audio</a:t>
              </a:r>
            </a:p>
            <a:p>
              <a:pPr algn="l" marL="499113" indent="-249557" lvl="1">
                <a:lnSpc>
                  <a:spcPts val="3236"/>
                </a:lnSpc>
                <a:buFont typeface="Arial"/>
                <a:buChar char="•"/>
              </a:pPr>
              <a:r>
                <a:rPr lang="en-US" b="true" sz="231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multi-classification : 5 classes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0379084" y="3620891"/>
            <a:ext cx="6192352" cy="4760001"/>
          </a:xfrm>
          <a:custGeom>
            <a:avLst/>
            <a:gdLst/>
            <a:ahLst/>
            <a:cxnLst/>
            <a:rect r="r" b="b" t="t" l="l"/>
            <a:pathLst>
              <a:path h="4760001" w="6192352">
                <a:moveTo>
                  <a:pt x="0" y="0"/>
                </a:moveTo>
                <a:lnTo>
                  <a:pt x="6192352" y="0"/>
                </a:lnTo>
                <a:lnTo>
                  <a:pt x="6192352" y="4760001"/>
                </a:lnTo>
                <a:lnTo>
                  <a:pt x="0" y="476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95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816618" y="861133"/>
            <a:ext cx="15442682" cy="110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7700">
                <a:solidFill>
                  <a:srgbClr val="CCEBFF"/>
                </a:solidFill>
                <a:latin typeface="Bungee"/>
                <a:ea typeface="Bungee"/>
                <a:cs typeface="Bungee"/>
                <a:sym typeface="Bungee"/>
              </a:rPr>
              <a:t>PROBLÈME &amp; DATAset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-524871" y="9638344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003075" y="1348868"/>
            <a:ext cx="5645267" cy="110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74"/>
              </a:lnSpc>
            </a:pPr>
            <a:r>
              <a:rPr lang="en-US" sz="64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Problème &amp; Dataset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58655" y="10037646"/>
            <a:ext cx="17970690" cy="2809662"/>
            <a:chOff x="0" y="0"/>
            <a:chExt cx="4733021" cy="73999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33021" cy="739993"/>
            </a:xfrm>
            <a:custGeom>
              <a:avLst/>
              <a:gdLst/>
              <a:ahLst/>
              <a:cxnLst/>
              <a:rect r="r" b="b" t="t" l="l"/>
              <a:pathLst>
                <a:path h="739993" w="4733021">
                  <a:moveTo>
                    <a:pt x="34465" y="0"/>
                  </a:moveTo>
                  <a:lnTo>
                    <a:pt x="4698557" y="0"/>
                  </a:lnTo>
                  <a:cubicBezTo>
                    <a:pt x="4707697" y="0"/>
                    <a:pt x="4716463" y="3631"/>
                    <a:pt x="4722927" y="10094"/>
                  </a:cubicBezTo>
                  <a:cubicBezTo>
                    <a:pt x="4729390" y="16558"/>
                    <a:pt x="4733021" y="25324"/>
                    <a:pt x="4733021" y="34465"/>
                  </a:cubicBezTo>
                  <a:lnTo>
                    <a:pt x="4733021" y="705529"/>
                  </a:lnTo>
                  <a:cubicBezTo>
                    <a:pt x="4733021" y="714669"/>
                    <a:pt x="4729390" y="723436"/>
                    <a:pt x="4722927" y="729899"/>
                  </a:cubicBezTo>
                  <a:cubicBezTo>
                    <a:pt x="4716463" y="736362"/>
                    <a:pt x="4707697" y="739993"/>
                    <a:pt x="4698557" y="739993"/>
                  </a:cubicBezTo>
                  <a:lnTo>
                    <a:pt x="34465" y="739993"/>
                  </a:lnTo>
                  <a:cubicBezTo>
                    <a:pt x="25324" y="739993"/>
                    <a:pt x="16558" y="736362"/>
                    <a:pt x="10094" y="729899"/>
                  </a:cubicBezTo>
                  <a:cubicBezTo>
                    <a:pt x="3631" y="723436"/>
                    <a:pt x="0" y="714669"/>
                    <a:pt x="0" y="705529"/>
                  </a:cubicBezTo>
                  <a:lnTo>
                    <a:pt x="0" y="34465"/>
                  </a:lnTo>
                  <a:cubicBezTo>
                    <a:pt x="0" y="25324"/>
                    <a:pt x="3631" y="16558"/>
                    <a:pt x="10094" y="10094"/>
                  </a:cubicBezTo>
                  <a:cubicBezTo>
                    <a:pt x="16558" y="3631"/>
                    <a:pt x="25324" y="0"/>
                    <a:pt x="34465" y="0"/>
                  </a:cubicBezTo>
                  <a:close/>
                </a:path>
              </a:pathLst>
            </a:custGeom>
            <a:solidFill>
              <a:srgbClr val="F2AC3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733021" cy="778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283834" y="8752367"/>
            <a:ext cx="6839083" cy="33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b="true" sz="229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Dataset déséquilibré → rééquilibrage nécessaire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655" y="10037646"/>
            <a:ext cx="17970690" cy="2809662"/>
            <a:chOff x="0" y="0"/>
            <a:chExt cx="4733021" cy="7399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33021" cy="739993"/>
            </a:xfrm>
            <a:custGeom>
              <a:avLst/>
              <a:gdLst/>
              <a:ahLst/>
              <a:cxnLst/>
              <a:rect r="r" b="b" t="t" l="l"/>
              <a:pathLst>
                <a:path h="739993" w="4733021">
                  <a:moveTo>
                    <a:pt x="34465" y="0"/>
                  </a:moveTo>
                  <a:lnTo>
                    <a:pt x="4698557" y="0"/>
                  </a:lnTo>
                  <a:cubicBezTo>
                    <a:pt x="4707697" y="0"/>
                    <a:pt x="4716463" y="3631"/>
                    <a:pt x="4722927" y="10094"/>
                  </a:cubicBezTo>
                  <a:cubicBezTo>
                    <a:pt x="4729390" y="16558"/>
                    <a:pt x="4733021" y="25324"/>
                    <a:pt x="4733021" y="34465"/>
                  </a:cubicBezTo>
                  <a:lnTo>
                    <a:pt x="4733021" y="705529"/>
                  </a:lnTo>
                  <a:cubicBezTo>
                    <a:pt x="4733021" y="714669"/>
                    <a:pt x="4729390" y="723436"/>
                    <a:pt x="4722927" y="729899"/>
                  </a:cubicBezTo>
                  <a:cubicBezTo>
                    <a:pt x="4716463" y="736362"/>
                    <a:pt x="4707697" y="739993"/>
                    <a:pt x="4698557" y="739993"/>
                  </a:cubicBezTo>
                  <a:lnTo>
                    <a:pt x="34465" y="739993"/>
                  </a:lnTo>
                  <a:cubicBezTo>
                    <a:pt x="25324" y="739993"/>
                    <a:pt x="16558" y="736362"/>
                    <a:pt x="10094" y="729899"/>
                  </a:cubicBezTo>
                  <a:cubicBezTo>
                    <a:pt x="3631" y="723436"/>
                    <a:pt x="0" y="714669"/>
                    <a:pt x="0" y="705529"/>
                  </a:cubicBezTo>
                  <a:lnTo>
                    <a:pt x="0" y="34465"/>
                  </a:lnTo>
                  <a:cubicBezTo>
                    <a:pt x="0" y="25324"/>
                    <a:pt x="3631" y="16558"/>
                    <a:pt x="10094" y="10094"/>
                  </a:cubicBezTo>
                  <a:cubicBezTo>
                    <a:pt x="16558" y="3631"/>
                    <a:pt x="25324" y="0"/>
                    <a:pt x="34465" y="0"/>
                  </a:cubicBezTo>
                  <a:close/>
                </a:path>
              </a:pathLst>
            </a:custGeom>
            <a:solidFill>
              <a:srgbClr val="F2AC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33021" cy="778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9197" y="2465479"/>
            <a:ext cx="4291363" cy="2509459"/>
            <a:chOff x="0" y="0"/>
            <a:chExt cx="1032518" cy="6037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2517" cy="603785"/>
            </a:xfrm>
            <a:custGeom>
              <a:avLst/>
              <a:gdLst/>
              <a:ahLst/>
              <a:cxnLst/>
              <a:rect r="r" b="b" t="t" l="l"/>
              <a:pathLst>
                <a:path h="603785" w="1032517">
                  <a:moveTo>
                    <a:pt x="64947" y="0"/>
                  </a:moveTo>
                  <a:lnTo>
                    <a:pt x="967571" y="0"/>
                  </a:lnTo>
                  <a:cubicBezTo>
                    <a:pt x="984796" y="0"/>
                    <a:pt x="1001315" y="6843"/>
                    <a:pt x="1013495" y="19022"/>
                  </a:cubicBezTo>
                  <a:cubicBezTo>
                    <a:pt x="1025675" y="31202"/>
                    <a:pt x="1032517" y="47722"/>
                    <a:pt x="1032517" y="64947"/>
                  </a:cubicBezTo>
                  <a:lnTo>
                    <a:pt x="1032517" y="538838"/>
                  </a:lnTo>
                  <a:cubicBezTo>
                    <a:pt x="1032517" y="574707"/>
                    <a:pt x="1003440" y="603785"/>
                    <a:pt x="967571" y="603785"/>
                  </a:cubicBezTo>
                  <a:lnTo>
                    <a:pt x="64947" y="603785"/>
                  </a:lnTo>
                  <a:cubicBezTo>
                    <a:pt x="29078" y="603785"/>
                    <a:pt x="0" y="574707"/>
                    <a:pt x="0" y="538838"/>
                  </a:cubicBezTo>
                  <a:lnTo>
                    <a:pt x="0" y="64947"/>
                  </a:lnTo>
                  <a:cubicBezTo>
                    <a:pt x="0" y="29078"/>
                    <a:pt x="29078" y="0"/>
                    <a:pt x="64947" y="0"/>
                  </a:cubicBezTo>
                  <a:close/>
                </a:path>
              </a:pathLst>
            </a:custGeom>
            <a:ln w="9525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32518" cy="641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41496" y="5611831"/>
            <a:ext cx="3862983" cy="2575322"/>
          </a:xfrm>
          <a:custGeom>
            <a:avLst/>
            <a:gdLst/>
            <a:ahLst/>
            <a:cxnLst/>
            <a:rect r="r" b="b" t="t" l="l"/>
            <a:pathLst>
              <a:path h="2575322" w="3862983">
                <a:moveTo>
                  <a:pt x="0" y="0"/>
                </a:moveTo>
                <a:lnTo>
                  <a:pt x="3862984" y="0"/>
                </a:lnTo>
                <a:lnTo>
                  <a:pt x="3862984" y="2575322"/>
                </a:lnTo>
                <a:lnTo>
                  <a:pt x="0" y="257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7750" y="600216"/>
            <a:ext cx="11019076" cy="84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5900">
                <a:solidFill>
                  <a:srgbClr val="CCEBFF"/>
                </a:solidFill>
                <a:latin typeface="Bungee"/>
                <a:ea typeface="Bungee"/>
                <a:cs typeface="Bungee"/>
                <a:sym typeface="Bungee"/>
              </a:rPr>
              <a:t>PIPELINE DEEP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524871" y="9638344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4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973406" y="2210398"/>
            <a:ext cx="3862946" cy="623718"/>
            <a:chOff x="0" y="0"/>
            <a:chExt cx="5150594" cy="83162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150594" cy="831624"/>
              <a:chOff x="0" y="0"/>
              <a:chExt cx="1018539" cy="16445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18539" cy="164455"/>
              </a:xfrm>
              <a:custGeom>
                <a:avLst/>
                <a:gdLst/>
                <a:ahLst/>
                <a:cxnLst/>
                <a:rect r="r" b="b" t="t" l="l"/>
                <a:pathLst>
                  <a:path h="164455" w="1018539">
                    <a:moveTo>
                      <a:pt x="82228" y="0"/>
                    </a:moveTo>
                    <a:lnTo>
                      <a:pt x="936312" y="0"/>
                    </a:lnTo>
                    <a:cubicBezTo>
                      <a:pt x="981725" y="0"/>
                      <a:pt x="1018539" y="36815"/>
                      <a:pt x="1018539" y="82228"/>
                    </a:cubicBezTo>
                    <a:lnTo>
                      <a:pt x="1018539" y="82228"/>
                    </a:lnTo>
                    <a:cubicBezTo>
                      <a:pt x="1018539" y="127641"/>
                      <a:pt x="981725" y="164455"/>
                      <a:pt x="936312" y="164455"/>
                    </a:cubicBezTo>
                    <a:lnTo>
                      <a:pt x="82228" y="164455"/>
                    </a:lnTo>
                    <a:cubicBezTo>
                      <a:pt x="36815" y="164455"/>
                      <a:pt x="0" y="127641"/>
                      <a:pt x="0" y="82228"/>
                    </a:cubicBezTo>
                    <a:lnTo>
                      <a:pt x="0" y="82228"/>
                    </a:lnTo>
                    <a:cubicBezTo>
                      <a:pt x="0" y="36815"/>
                      <a:pt x="36815" y="0"/>
                      <a:pt x="82228" y="0"/>
                    </a:cubicBezTo>
                    <a:close/>
                  </a:path>
                </a:pathLst>
              </a:custGeom>
              <a:solidFill>
                <a:srgbClr val="1D3163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018539" cy="1930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861344" y="217834"/>
              <a:ext cx="4289250" cy="3603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9"/>
                </a:lnSpc>
              </a:pPr>
              <a:r>
                <a:rPr lang="en-US" sz="1881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01. Chargement Audio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198840" y="716413"/>
            <a:ext cx="6750427" cy="97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4"/>
              </a:lnSpc>
            </a:pPr>
            <a:r>
              <a:rPr lang="en-US" sz="56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Pipeline Deep Learning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05256" y="3294920"/>
            <a:ext cx="2999245" cy="95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8"/>
              </a:lnSpc>
            </a:pPr>
            <a:r>
              <a:rPr lang="en-US" sz="229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librosa.load()</a:t>
            </a:r>
          </a:p>
          <a:p>
            <a:pPr algn="l">
              <a:lnSpc>
                <a:spcPts val="2528"/>
              </a:lnSpc>
            </a:pPr>
            <a:r>
              <a:rPr lang="en-US" sz="229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SR=16kHz, dur=7s</a:t>
            </a:r>
          </a:p>
          <a:p>
            <a:pPr algn="l">
              <a:lnSpc>
                <a:spcPts val="2528"/>
              </a:lnSpc>
            </a:pPr>
            <a:r>
              <a:rPr lang="en-US" sz="229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Padding si trop court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27288" y="2431858"/>
            <a:ext cx="4291363" cy="2509459"/>
            <a:chOff x="0" y="0"/>
            <a:chExt cx="1032518" cy="6037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2517" cy="603785"/>
            </a:xfrm>
            <a:custGeom>
              <a:avLst/>
              <a:gdLst/>
              <a:ahLst/>
              <a:cxnLst/>
              <a:rect r="r" b="b" t="t" l="l"/>
              <a:pathLst>
                <a:path h="603785" w="1032517">
                  <a:moveTo>
                    <a:pt x="64947" y="0"/>
                  </a:moveTo>
                  <a:lnTo>
                    <a:pt x="967571" y="0"/>
                  </a:lnTo>
                  <a:cubicBezTo>
                    <a:pt x="984796" y="0"/>
                    <a:pt x="1001315" y="6843"/>
                    <a:pt x="1013495" y="19022"/>
                  </a:cubicBezTo>
                  <a:cubicBezTo>
                    <a:pt x="1025675" y="31202"/>
                    <a:pt x="1032517" y="47722"/>
                    <a:pt x="1032517" y="64947"/>
                  </a:cubicBezTo>
                  <a:lnTo>
                    <a:pt x="1032517" y="538838"/>
                  </a:lnTo>
                  <a:cubicBezTo>
                    <a:pt x="1032517" y="574707"/>
                    <a:pt x="1003440" y="603785"/>
                    <a:pt x="967571" y="603785"/>
                  </a:cubicBezTo>
                  <a:lnTo>
                    <a:pt x="64947" y="603785"/>
                  </a:lnTo>
                  <a:cubicBezTo>
                    <a:pt x="29078" y="603785"/>
                    <a:pt x="0" y="574707"/>
                    <a:pt x="0" y="538838"/>
                  </a:cubicBezTo>
                  <a:lnTo>
                    <a:pt x="0" y="64947"/>
                  </a:lnTo>
                  <a:cubicBezTo>
                    <a:pt x="0" y="29078"/>
                    <a:pt x="29078" y="0"/>
                    <a:pt x="64947" y="0"/>
                  </a:cubicBezTo>
                  <a:close/>
                </a:path>
              </a:pathLst>
            </a:custGeom>
            <a:ln w="9525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32518" cy="641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41496" y="2176777"/>
            <a:ext cx="3862946" cy="623718"/>
            <a:chOff x="0" y="0"/>
            <a:chExt cx="5150594" cy="83162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5150594" cy="831624"/>
              <a:chOff x="0" y="0"/>
              <a:chExt cx="1018539" cy="16445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18539" cy="164455"/>
              </a:xfrm>
              <a:custGeom>
                <a:avLst/>
                <a:gdLst/>
                <a:ahLst/>
                <a:cxnLst/>
                <a:rect r="r" b="b" t="t" l="l"/>
                <a:pathLst>
                  <a:path h="164455" w="1018539">
                    <a:moveTo>
                      <a:pt x="82228" y="0"/>
                    </a:moveTo>
                    <a:lnTo>
                      <a:pt x="936312" y="0"/>
                    </a:lnTo>
                    <a:cubicBezTo>
                      <a:pt x="981725" y="0"/>
                      <a:pt x="1018539" y="36815"/>
                      <a:pt x="1018539" y="82228"/>
                    </a:cubicBezTo>
                    <a:lnTo>
                      <a:pt x="1018539" y="82228"/>
                    </a:lnTo>
                    <a:cubicBezTo>
                      <a:pt x="1018539" y="127641"/>
                      <a:pt x="981725" y="164455"/>
                      <a:pt x="936312" y="164455"/>
                    </a:cubicBezTo>
                    <a:lnTo>
                      <a:pt x="82228" y="164455"/>
                    </a:lnTo>
                    <a:cubicBezTo>
                      <a:pt x="36815" y="164455"/>
                      <a:pt x="0" y="127641"/>
                      <a:pt x="0" y="82228"/>
                    </a:cubicBezTo>
                    <a:lnTo>
                      <a:pt x="0" y="82228"/>
                    </a:lnTo>
                    <a:cubicBezTo>
                      <a:pt x="0" y="36815"/>
                      <a:pt x="36815" y="0"/>
                      <a:pt x="82228" y="0"/>
                    </a:cubicBezTo>
                    <a:close/>
                  </a:path>
                </a:pathLst>
              </a:custGeom>
              <a:solidFill>
                <a:srgbClr val="1D3163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28575"/>
                <a:ext cx="1018539" cy="1930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672836" y="245158"/>
              <a:ext cx="3804922" cy="3603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9"/>
                </a:lnSpc>
              </a:pPr>
              <a:r>
                <a:rPr lang="en-US" sz="1881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02. Augmentation Audio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750317" y="3261299"/>
            <a:ext cx="3645304" cy="95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8"/>
              </a:lnSpc>
            </a:pPr>
            <a:r>
              <a:rPr lang="en-US" sz="229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Time Stretch (×0.8–1.2)</a:t>
            </a:r>
          </a:p>
          <a:p>
            <a:pPr algn="l">
              <a:lnSpc>
                <a:spcPts val="2528"/>
              </a:lnSpc>
            </a:pPr>
            <a:r>
              <a:rPr lang="en-US" sz="229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Pitch Shift (±3 demi-tons)</a:t>
            </a:r>
          </a:p>
          <a:p>
            <a:pPr algn="l">
              <a:lnSpc>
                <a:spcPts val="2528"/>
              </a:lnSpc>
            </a:pPr>
            <a:r>
              <a:rPr lang="en-US" sz="229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Bruit, Shift, Volume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099650" y="2176777"/>
            <a:ext cx="4291363" cy="2764540"/>
            <a:chOff x="0" y="0"/>
            <a:chExt cx="5721817" cy="3686053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340109"/>
              <a:ext cx="5721817" cy="3345945"/>
              <a:chOff x="0" y="0"/>
              <a:chExt cx="1032518" cy="60378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32517" cy="603785"/>
              </a:xfrm>
              <a:custGeom>
                <a:avLst/>
                <a:gdLst/>
                <a:ahLst/>
                <a:cxnLst/>
                <a:rect r="r" b="b" t="t" l="l"/>
                <a:pathLst>
                  <a:path h="603785" w="1032517">
                    <a:moveTo>
                      <a:pt x="71093" y="0"/>
                    </a:moveTo>
                    <a:lnTo>
                      <a:pt x="961424" y="0"/>
                    </a:lnTo>
                    <a:cubicBezTo>
                      <a:pt x="980280" y="0"/>
                      <a:pt x="998362" y="7490"/>
                      <a:pt x="1011695" y="20823"/>
                    </a:cubicBezTo>
                    <a:cubicBezTo>
                      <a:pt x="1025027" y="34155"/>
                      <a:pt x="1032517" y="52238"/>
                      <a:pt x="1032517" y="71093"/>
                    </a:cubicBezTo>
                    <a:lnTo>
                      <a:pt x="1032517" y="532692"/>
                    </a:lnTo>
                    <a:cubicBezTo>
                      <a:pt x="1032517" y="551547"/>
                      <a:pt x="1025027" y="569630"/>
                      <a:pt x="1011695" y="582962"/>
                    </a:cubicBezTo>
                    <a:cubicBezTo>
                      <a:pt x="998362" y="596295"/>
                      <a:pt x="980280" y="603785"/>
                      <a:pt x="961424" y="603785"/>
                    </a:cubicBezTo>
                    <a:lnTo>
                      <a:pt x="71093" y="603785"/>
                    </a:lnTo>
                    <a:cubicBezTo>
                      <a:pt x="52238" y="603785"/>
                      <a:pt x="34155" y="596295"/>
                      <a:pt x="20823" y="582962"/>
                    </a:cubicBezTo>
                    <a:cubicBezTo>
                      <a:pt x="7490" y="569630"/>
                      <a:pt x="0" y="551547"/>
                      <a:pt x="0" y="532692"/>
                    </a:cubicBezTo>
                    <a:lnTo>
                      <a:pt x="0" y="71093"/>
                    </a:lnTo>
                    <a:cubicBezTo>
                      <a:pt x="0" y="52238"/>
                      <a:pt x="7490" y="34155"/>
                      <a:pt x="20823" y="20823"/>
                    </a:cubicBezTo>
                    <a:cubicBezTo>
                      <a:pt x="34155" y="7490"/>
                      <a:pt x="52238" y="0"/>
                      <a:pt x="71093" y="0"/>
                    </a:cubicBezTo>
                    <a:close/>
                  </a:path>
                </a:pathLst>
              </a:custGeom>
              <a:ln w="9525" cap="rnd">
                <a:solidFill>
                  <a:srgbClr val="CCEBFF"/>
                </a:soli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32518" cy="641885"/>
              </a:xfrm>
              <a:prstGeom prst="rect">
                <a:avLst/>
              </a:prstGeom>
            </p:spPr>
            <p:txBody>
              <a:bodyPr anchor="ctr" rtlCol="false" tIns="46408" lIns="46408" bIns="46408" rIns="4640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85611" y="0"/>
              <a:ext cx="5150594" cy="831624"/>
              <a:chOff x="0" y="0"/>
              <a:chExt cx="1018539" cy="16445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018539" cy="164455"/>
              </a:xfrm>
              <a:custGeom>
                <a:avLst/>
                <a:gdLst/>
                <a:ahLst/>
                <a:cxnLst/>
                <a:rect r="r" b="b" t="t" l="l"/>
                <a:pathLst>
                  <a:path h="164455" w="1018539">
                    <a:moveTo>
                      <a:pt x="82228" y="0"/>
                    </a:moveTo>
                    <a:lnTo>
                      <a:pt x="936312" y="0"/>
                    </a:lnTo>
                    <a:cubicBezTo>
                      <a:pt x="981725" y="0"/>
                      <a:pt x="1018539" y="36815"/>
                      <a:pt x="1018539" y="82228"/>
                    </a:cubicBezTo>
                    <a:lnTo>
                      <a:pt x="1018539" y="82228"/>
                    </a:lnTo>
                    <a:cubicBezTo>
                      <a:pt x="1018539" y="127641"/>
                      <a:pt x="981725" y="164455"/>
                      <a:pt x="936312" y="164455"/>
                    </a:cubicBezTo>
                    <a:lnTo>
                      <a:pt x="82228" y="164455"/>
                    </a:lnTo>
                    <a:cubicBezTo>
                      <a:pt x="36815" y="164455"/>
                      <a:pt x="0" y="127641"/>
                      <a:pt x="0" y="82228"/>
                    </a:cubicBezTo>
                    <a:lnTo>
                      <a:pt x="0" y="82228"/>
                    </a:lnTo>
                    <a:cubicBezTo>
                      <a:pt x="0" y="36815"/>
                      <a:pt x="36815" y="0"/>
                      <a:pt x="82228" y="0"/>
                    </a:cubicBezTo>
                    <a:close/>
                  </a:path>
                </a:pathLst>
              </a:custGeom>
              <a:solidFill>
                <a:srgbClr val="1D3163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28575"/>
                <a:ext cx="1018539" cy="1930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958447" y="245158"/>
              <a:ext cx="3804922" cy="3603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9"/>
                </a:lnSpc>
              </a:pPr>
              <a:r>
                <a:rPr lang="en-US" sz="1881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03. Mel-Spectrogramme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430706" y="1442854"/>
              <a:ext cx="4860405" cy="16976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8"/>
                </a:lnSpc>
              </a:pPr>
              <a:r>
                <a:rPr lang="en-US" sz="2298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N_mels=128, N_FFT=2048</a:t>
              </a:r>
            </a:p>
            <a:p>
              <a:pPr algn="l">
                <a:lnSpc>
                  <a:spcPts val="2528"/>
                </a:lnSpc>
              </a:pPr>
              <a:r>
                <a:rPr lang="en-US" sz="2298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Conversion dB, norm [0,1]</a:t>
              </a:r>
            </a:p>
            <a:p>
              <a:pPr algn="l">
                <a:lnSpc>
                  <a:spcPts val="2528"/>
                </a:lnSpc>
              </a:pPr>
              <a:r>
                <a:rPr lang="en-US" sz="2298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SpecAugment (masques)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59584" y="5517222"/>
            <a:ext cx="4291363" cy="2764540"/>
            <a:chOff x="0" y="0"/>
            <a:chExt cx="5721817" cy="3686053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340109"/>
              <a:ext cx="5721817" cy="3345945"/>
              <a:chOff x="0" y="0"/>
              <a:chExt cx="1032518" cy="60378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32517" cy="603785"/>
              </a:xfrm>
              <a:custGeom>
                <a:avLst/>
                <a:gdLst/>
                <a:ahLst/>
                <a:cxnLst/>
                <a:rect r="r" b="b" t="t" l="l"/>
                <a:pathLst>
                  <a:path h="603785" w="1032517">
                    <a:moveTo>
                      <a:pt x="71093" y="0"/>
                    </a:moveTo>
                    <a:lnTo>
                      <a:pt x="961424" y="0"/>
                    </a:lnTo>
                    <a:cubicBezTo>
                      <a:pt x="980280" y="0"/>
                      <a:pt x="998362" y="7490"/>
                      <a:pt x="1011695" y="20823"/>
                    </a:cubicBezTo>
                    <a:cubicBezTo>
                      <a:pt x="1025027" y="34155"/>
                      <a:pt x="1032517" y="52238"/>
                      <a:pt x="1032517" y="71093"/>
                    </a:cubicBezTo>
                    <a:lnTo>
                      <a:pt x="1032517" y="532692"/>
                    </a:lnTo>
                    <a:cubicBezTo>
                      <a:pt x="1032517" y="551547"/>
                      <a:pt x="1025027" y="569630"/>
                      <a:pt x="1011695" y="582962"/>
                    </a:cubicBezTo>
                    <a:cubicBezTo>
                      <a:pt x="998362" y="596295"/>
                      <a:pt x="980280" y="603785"/>
                      <a:pt x="961424" y="603785"/>
                    </a:cubicBezTo>
                    <a:lnTo>
                      <a:pt x="71093" y="603785"/>
                    </a:lnTo>
                    <a:cubicBezTo>
                      <a:pt x="52238" y="603785"/>
                      <a:pt x="34155" y="596295"/>
                      <a:pt x="20823" y="582962"/>
                    </a:cubicBezTo>
                    <a:cubicBezTo>
                      <a:pt x="7490" y="569630"/>
                      <a:pt x="0" y="551547"/>
                      <a:pt x="0" y="532692"/>
                    </a:cubicBezTo>
                    <a:lnTo>
                      <a:pt x="0" y="71093"/>
                    </a:lnTo>
                    <a:cubicBezTo>
                      <a:pt x="0" y="52238"/>
                      <a:pt x="7490" y="34155"/>
                      <a:pt x="20823" y="20823"/>
                    </a:cubicBezTo>
                    <a:cubicBezTo>
                      <a:pt x="34155" y="7490"/>
                      <a:pt x="52238" y="0"/>
                      <a:pt x="71093" y="0"/>
                    </a:cubicBezTo>
                    <a:close/>
                  </a:path>
                </a:pathLst>
              </a:custGeom>
              <a:ln w="9525" cap="rnd">
                <a:solidFill>
                  <a:srgbClr val="CCEBFF"/>
                </a:solidFill>
                <a:prstDash val="solid"/>
                <a:round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032518" cy="641885"/>
              </a:xfrm>
              <a:prstGeom prst="rect">
                <a:avLst/>
              </a:prstGeom>
            </p:spPr>
            <p:txBody>
              <a:bodyPr anchor="ctr" rtlCol="false" tIns="46408" lIns="46408" bIns="46408" rIns="4640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285611" y="0"/>
              <a:ext cx="5150594" cy="831624"/>
              <a:chOff x="0" y="0"/>
              <a:chExt cx="1018539" cy="16445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18539" cy="164455"/>
              </a:xfrm>
              <a:custGeom>
                <a:avLst/>
                <a:gdLst/>
                <a:ahLst/>
                <a:cxnLst/>
                <a:rect r="r" b="b" t="t" l="l"/>
                <a:pathLst>
                  <a:path h="164455" w="1018539">
                    <a:moveTo>
                      <a:pt x="82228" y="0"/>
                    </a:moveTo>
                    <a:lnTo>
                      <a:pt x="936312" y="0"/>
                    </a:lnTo>
                    <a:cubicBezTo>
                      <a:pt x="981725" y="0"/>
                      <a:pt x="1018539" y="36815"/>
                      <a:pt x="1018539" y="82228"/>
                    </a:cubicBezTo>
                    <a:lnTo>
                      <a:pt x="1018539" y="82228"/>
                    </a:lnTo>
                    <a:cubicBezTo>
                      <a:pt x="1018539" y="127641"/>
                      <a:pt x="981725" y="164455"/>
                      <a:pt x="936312" y="164455"/>
                    </a:cubicBezTo>
                    <a:lnTo>
                      <a:pt x="82228" y="164455"/>
                    </a:lnTo>
                    <a:cubicBezTo>
                      <a:pt x="36815" y="164455"/>
                      <a:pt x="0" y="127641"/>
                      <a:pt x="0" y="82228"/>
                    </a:cubicBezTo>
                    <a:lnTo>
                      <a:pt x="0" y="82228"/>
                    </a:lnTo>
                    <a:cubicBezTo>
                      <a:pt x="0" y="36815"/>
                      <a:pt x="36815" y="0"/>
                      <a:pt x="82228" y="0"/>
                    </a:cubicBezTo>
                    <a:close/>
                  </a:path>
                </a:pathLst>
              </a:custGeom>
              <a:solidFill>
                <a:srgbClr val="1D3163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1018539" cy="1930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1684939" y="245158"/>
              <a:ext cx="2351939" cy="3603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9"/>
                </a:lnSpc>
              </a:pPr>
              <a:r>
                <a:rPr lang="en-US" sz="1881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04. Équilibrage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430706" y="1442854"/>
              <a:ext cx="4860405" cy="16976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8"/>
                </a:lnSpc>
              </a:pPr>
              <a:r>
                <a:rPr lang="en-US" sz="2298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Target: 382 par classe</a:t>
              </a:r>
            </a:p>
            <a:p>
              <a:pPr algn="l">
                <a:lnSpc>
                  <a:spcPts val="2528"/>
                </a:lnSpc>
              </a:pPr>
              <a:r>
                <a:rPr lang="en-US" sz="2298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Augmentation rares</a:t>
              </a:r>
            </a:p>
            <a:p>
              <a:pPr algn="l">
                <a:lnSpc>
                  <a:spcPts val="2528"/>
                </a:lnSpc>
              </a:pPr>
              <a:r>
                <a:rPr lang="en-US" sz="2298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Split 70/15/15 stratifié</a:t>
              </a:r>
            </a:p>
            <a:p>
              <a:pPr algn="l">
                <a:lnSpc>
                  <a:spcPts val="2528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59197" y="8948284"/>
            <a:ext cx="13885480" cy="807054"/>
            <a:chOff x="0" y="0"/>
            <a:chExt cx="3340897" cy="1941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40897" cy="194180"/>
            </a:xfrm>
            <a:custGeom>
              <a:avLst/>
              <a:gdLst/>
              <a:ahLst/>
              <a:cxnLst/>
              <a:rect r="r" b="b" t="t" l="l"/>
              <a:pathLst>
                <a:path h="194180" w="3340897">
                  <a:moveTo>
                    <a:pt x="20072" y="0"/>
                  </a:moveTo>
                  <a:lnTo>
                    <a:pt x="3320825" y="0"/>
                  </a:lnTo>
                  <a:cubicBezTo>
                    <a:pt x="3326149" y="0"/>
                    <a:pt x="3331254" y="2115"/>
                    <a:pt x="3335018" y="5879"/>
                  </a:cubicBezTo>
                  <a:cubicBezTo>
                    <a:pt x="3338783" y="9643"/>
                    <a:pt x="3340897" y="14749"/>
                    <a:pt x="3340897" y="20072"/>
                  </a:cubicBezTo>
                  <a:lnTo>
                    <a:pt x="3340897" y="174108"/>
                  </a:lnTo>
                  <a:cubicBezTo>
                    <a:pt x="3340897" y="179432"/>
                    <a:pt x="3338783" y="184537"/>
                    <a:pt x="3335018" y="188301"/>
                  </a:cubicBezTo>
                  <a:cubicBezTo>
                    <a:pt x="3331254" y="192066"/>
                    <a:pt x="3326149" y="194180"/>
                    <a:pt x="3320825" y="194180"/>
                  </a:cubicBezTo>
                  <a:lnTo>
                    <a:pt x="20072" y="194180"/>
                  </a:lnTo>
                  <a:cubicBezTo>
                    <a:pt x="14749" y="194180"/>
                    <a:pt x="9643" y="192066"/>
                    <a:pt x="5879" y="188301"/>
                  </a:cubicBezTo>
                  <a:cubicBezTo>
                    <a:pt x="2115" y="184537"/>
                    <a:pt x="0" y="179432"/>
                    <a:pt x="0" y="174108"/>
                  </a:cubicBezTo>
                  <a:lnTo>
                    <a:pt x="0" y="20072"/>
                  </a:lnTo>
                  <a:cubicBezTo>
                    <a:pt x="0" y="14749"/>
                    <a:pt x="2115" y="9643"/>
                    <a:pt x="5879" y="5879"/>
                  </a:cubicBezTo>
                  <a:cubicBezTo>
                    <a:pt x="9643" y="2115"/>
                    <a:pt x="14749" y="0"/>
                    <a:pt x="20072" y="0"/>
                  </a:cubicBezTo>
                  <a:close/>
                </a:path>
              </a:pathLst>
            </a:custGeom>
            <a:ln w="9525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340897" cy="232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2710522" y="9189577"/>
            <a:ext cx="12026623" cy="33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b="true" sz="229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Résultat : 1910 spectrogrammes équilibrés (382 × 5 classes) · Format (1, 128, 219) pixels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1099650" y="5517222"/>
            <a:ext cx="4291363" cy="2764540"/>
            <a:chOff x="0" y="0"/>
            <a:chExt cx="5721817" cy="3686053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340109"/>
              <a:ext cx="5721817" cy="3345945"/>
              <a:chOff x="0" y="0"/>
              <a:chExt cx="1032518" cy="603785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032517" cy="603785"/>
              </a:xfrm>
              <a:custGeom>
                <a:avLst/>
                <a:gdLst/>
                <a:ahLst/>
                <a:cxnLst/>
                <a:rect r="r" b="b" t="t" l="l"/>
                <a:pathLst>
                  <a:path h="603785" w="1032517">
                    <a:moveTo>
                      <a:pt x="71093" y="0"/>
                    </a:moveTo>
                    <a:lnTo>
                      <a:pt x="961424" y="0"/>
                    </a:lnTo>
                    <a:cubicBezTo>
                      <a:pt x="980280" y="0"/>
                      <a:pt x="998362" y="7490"/>
                      <a:pt x="1011695" y="20823"/>
                    </a:cubicBezTo>
                    <a:cubicBezTo>
                      <a:pt x="1025027" y="34155"/>
                      <a:pt x="1032517" y="52238"/>
                      <a:pt x="1032517" y="71093"/>
                    </a:cubicBezTo>
                    <a:lnTo>
                      <a:pt x="1032517" y="532692"/>
                    </a:lnTo>
                    <a:cubicBezTo>
                      <a:pt x="1032517" y="551547"/>
                      <a:pt x="1025027" y="569630"/>
                      <a:pt x="1011695" y="582962"/>
                    </a:cubicBezTo>
                    <a:cubicBezTo>
                      <a:pt x="998362" y="596295"/>
                      <a:pt x="980280" y="603785"/>
                      <a:pt x="961424" y="603785"/>
                    </a:cubicBezTo>
                    <a:lnTo>
                      <a:pt x="71093" y="603785"/>
                    </a:lnTo>
                    <a:cubicBezTo>
                      <a:pt x="52238" y="603785"/>
                      <a:pt x="34155" y="596295"/>
                      <a:pt x="20823" y="582962"/>
                    </a:cubicBezTo>
                    <a:cubicBezTo>
                      <a:pt x="7490" y="569630"/>
                      <a:pt x="0" y="551547"/>
                      <a:pt x="0" y="532692"/>
                    </a:cubicBezTo>
                    <a:lnTo>
                      <a:pt x="0" y="71093"/>
                    </a:lnTo>
                    <a:cubicBezTo>
                      <a:pt x="0" y="52238"/>
                      <a:pt x="7490" y="34155"/>
                      <a:pt x="20823" y="20823"/>
                    </a:cubicBezTo>
                    <a:cubicBezTo>
                      <a:pt x="34155" y="7490"/>
                      <a:pt x="52238" y="0"/>
                      <a:pt x="71093" y="0"/>
                    </a:cubicBezTo>
                    <a:close/>
                  </a:path>
                </a:pathLst>
              </a:custGeom>
              <a:ln w="9525" cap="rnd">
                <a:solidFill>
                  <a:srgbClr val="CCEBFF"/>
                </a:solidFill>
                <a:prstDash val="solid"/>
                <a:round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1032518" cy="641885"/>
              </a:xfrm>
              <a:prstGeom prst="rect">
                <a:avLst/>
              </a:prstGeom>
            </p:spPr>
            <p:txBody>
              <a:bodyPr anchor="ctr" rtlCol="false" tIns="46408" lIns="46408" bIns="46408" rIns="4640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285611" y="0"/>
              <a:ext cx="5150594" cy="831624"/>
              <a:chOff x="0" y="0"/>
              <a:chExt cx="1018539" cy="164455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018539" cy="164455"/>
              </a:xfrm>
              <a:custGeom>
                <a:avLst/>
                <a:gdLst/>
                <a:ahLst/>
                <a:cxnLst/>
                <a:rect r="r" b="b" t="t" l="l"/>
                <a:pathLst>
                  <a:path h="164455" w="1018539">
                    <a:moveTo>
                      <a:pt x="82228" y="0"/>
                    </a:moveTo>
                    <a:lnTo>
                      <a:pt x="936312" y="0"/>
                    </a:lnTo>
                    <a:cubicBezTo>
                      <a:pt x="981725" y="0"/>
                      <a:pt x="1018539" y="36815"/>
                      <a:pt x="1018539" y="82228"/>
                    </a:cubicBezTo>
                    <a:lnTo>
                      <a:pt x="1018539" y="82228"/>
                    </a:lnTo>
                    <a:cubicBezTo>
                      <a:pt x="1018539" y="127641"/>
                      <a:pt x="981725" y="164455"/>
                      <a:pt x="936312" y="164455"/>
                    </a:cubicBezTo>
                    <a:lnTo>
                      <a:pt x="82228" y="164455"/>
                    </a:lnTo>
                    <a:cubicBezTo>
                      <a:pt x="36815" y="164455"/>
                      <a:pt x="0" y="127641"/>
                      <a:pt x="0" y="82228"/>
                    </a:cubicBezTo>
                    <a:lnTo>
                      <a:pt x="0" y="82228"/>
                    </a:lnTo>
                    <a:cubicBezTo>
                      <a:pt x="0" y="36815"/>
                      <a:pt x="36815" y="0"/>
                      <a:pt x="82228" y="0"/>
                    </a:cubicBezTo>
                    <a:close/>
                  </a:path>
                </a:pathLst>
              </a:custGeom>
              <a:solidFill>
                <a:srgbClr val="1D3163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28575"/>
                <a:ext cx="1018539" cy="1930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6" id="56"/>
            <p:cNvSpPr txBox="true"/>
            <p:nvPr/>
          </p:nvSpPr>
          <p:spPr>
            <a:xfrm rot="0">
              <a:off x="958447" y="245158"/>
              <a:ext cx="3804922" cy="3603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9"/>
                </a:lnSpc>
              </a:pPr>
              <a:r>
                <a:rPr lang="en-US" sz="1881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05. DataLoader PyTorch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430706" y="1442854"/>
              <a:ext cx="4860405" cy="1280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8"/>
                </a:lnSpc>
              </a:pPr>
              <a:r>
                <a:rPr lang="en-US" sz="2298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Tensor (1,128,T)</a:t>
              </a:r>
            </a:p>
            <a:p>
              <a:pPr algn="l">
                <a:lnSpc>
                  <a:spcPts val="2528"/>
                </a:lnSpc>
              </a:pPr>
              <a:r>
                <a:rPr lang="en-US" sz="2298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Batch size = 32</a:t>
              </a:r>
            </a:p>
            <a:p>
              <a:pPr algn="l">
                <a:lnSpc>
                  <a:spcPts val="2528"/>
                </a:lnSpc>
              </a:pPr>
              <a:r>
                <a:rPr lang="en-US" sz="2298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Shuffle train only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9459" y="246262"/>
            <a:ext cx="20086919" cy="1543050"/>
            <a:chOff x="0" y="0"/>
            <a:chExt cx="529038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90382" cy="406400"/>
            </a:xfrm>
            <a:custGeom>
              <a:avLst/>
              <a:gdLst/>
              <a:ahLst/>
              <a:cxnLst/>
              <a:rect r="r" b="b" t="t" l="l"/>
              <a:pathLst>
                <a:path h="406400" w="5290382">
                  <a:moveTo>
                    <a:pt x="0" y="0"/>
                  </a:moveTo>
                  <a:lnTo>
                    <a:pt x="5290382" y="0"/>
                  </a:lnTo>
                  <a:lnTo>
                    <a:pt x="5290382" y="406400"/>
                  </a:lnTo>
                  <a:lnTo>
                    <a:pt x="0" y="4064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9038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230092" y="-234418"/>
            <a:ext cx="2460184" cy="2649428"/>
          </a:xfrm>
          <a:custGeom>
            <a:avLst/>
            <a:gdLst/>
            <a:ahLst/>
            <a:cxnLst/>
            <a:rect r="r" b="b" t="t" l="l"/>
            <a:pathLst>
              <a:path h="2649428" w="2460184">
                <a:moveTo>
                  <a:pt x="0" y="0"/>
                </a:moveTo>
                <a:lnTo>
                  <a:pt x="2460184" y="0"/>
                </a:lnTo>
                <a:lnTo>
                  <a:pt x="2460184" y="2649429"/>
                </a:lnTo>
                <a:lnTo>
                  <a:pt x="0" y="2649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1884" t="-35465" r="-335790" b="-52916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82610" y="591061"/>
            <a:ext cx="15040155" cy="91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640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Architectures Testées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524871" y="9674946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29754" y="6826046"/>
            <a:ext cx="218688" cy="160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3"/>
              </a:lnSpc>
            </a:pPr>
            <a:r>
              <a:rPr lang="en-US" sz="945">
                <a:solidFill>
                  <a:srgbClr val="1D3163"/>
                </a:solidFill>
                <a:latin typeface="Quicksand"/>
                <a:ea typeface="Quicksand"/>
                <a:cs typeface="Quicksand"/>
                <a:sym typeface="Quicksand"/>
              </a:rPr>
              <a:t>FN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3309478"/>
            <a:ext cx="280863" cy="160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3"/>
              </a:lnSpc>
            </a:pPr>
            <a:r>
              <a:rPr lang="en-US" sz="945">
                <a:solidFill>
                  <a:srgbClr val="1D3163"/>
                </a:solidFill>
                <a:latin typeface="Quicksand"/>
                <a:ea typeface="Quicksand"/>
                <a:cs typeface="Quicksand"/>
                <a:sym typeface="Quicksand"/>
              </a:rPr>
              <a:t>FP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59197" y="2465479"/>
            <a:ext cx="4291363" cy="3719312"/>
            <a:chOff x="0" y="0"/>
            <a:chExt cx="1032518" cy="894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2517" cy="894880"/>
            </a:xfrm>
            <a:custGeom>
              <a:avLst/>
              <a:gdLst/>
              <a:ahLst/>
              <a:cxnLst/>
              <a:rect r="r" b="b" t="t" l="l"/>
              <a:pathLst>
                <a:path h="894880" w="1032517">
                  <a:moveTo>
                    <a:pt x="64947" y="0"/>
                  </a:moveTo>
                  <a:lnTo>
                    <a:pt x="967571" y="0"/>
                  </a:lnTo>
                  <a:cubicBezTo>
                    <a:pt x="984796" y="0"/>
                    <a:pt x="1001315" y="6843"/>
                    <a:pt x="1013495" y="19022"/>
                  </a:cubicBezTo>
                  <a:cubicBezTo>
                    <a:pt x="1025675" y="31202"/>
                    <a:pt x="1032517" y="47722"/>
                    <a:pt x="1032517" y="64947"/>
                  </a:cubicBezTo>
                  <a:lnTo>
                    <a:pt x="1032517" y="829934"/>
                  </a:lnTo>
                  <a:cubicBezTo>
                    <a:pt x="1032517" y="865803"/>
                    <a:pt x="1003440" y="894880"/>
                    <a:pt x="967571" y="894880"/>
                  </a:cubicBezTo>
                  <a:lnTo>
                    <a:pt x="64947" y="894880"/>
                  </a:lnTo>
                  <a:cubicBezTo>
                    <a:pt x="29078" y="894880"/>
                    <a:pt x="0" y="865803"/>
                    <a:pt x="0" y="829934"/>
                  </a:cubicBezTo>
                  <a:lnTo>
                    <a:pt x="0" y="64947"/>
                  </a:lnTo>
                  <a:cubicBezTo>
                    <a:pt x="0" y="29078"/>
                    <a:pt x="29078" y="0"/>
                    <a:pt x="64947" y="0"/>
                  </a:cubicBezTo>
                  <a:close/>
                </a:path>
              </a:pathLst>
            </a:custGeom>
            <a:ln w="9525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32518" cy="932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73406" y="2210398"/>
            <a:ext cx="3862946" cy="623718"/>
            <a:chOff x="0" y="0"/>
            <a:chExt cx="5150594" cy="83162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150594" cy="831624"/>
              <a:chOff x="0" y="0"/>
              <a:chExt cx="1018539" cy="16445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18539" cy="164455"/>
              </a:xfrm>
              <a:custGeom>
                <a:avLst/>
                <a:gdLst/>
                <a:ahLst/>
                <a:cxnLst/>
                <a:rect r="r" b="b" t="t" l="l"/>
                <a:pathLst>
                  <a:path h="164455" w="1018539">
                    <a:moveTo>
                      <a:pt x="82228" y="0"/>
                    </a:moveTo>
                    <a:lnTo>
                      <a:pt x="936312" y="0"/>
                    </a:lnTo>
                    <a:cubicBezTo>
                      <a:pt x="981725" y="0"/>
                      <a:pt x="1018539" y="36815"/>
                      <a:pt x="1018539" y="82228"/>
                    </a:cubicBezTo>
                    <a:lnTo>
                      <a:pt x="1018539" y="82228"/>
                    </a:lnTo>
                    <a:cubicBezTo>
                      <a:pt x="1018539" y="127641"/>
                      <a:pt x="981725" y="164455"/>
                      <a:pt x="936312" y="164455"/>
                    </a:cubicBezTo>
                    <a:lnTo>
                      <a:pt x="82228" y="164455"/>
                    </a:lnTo>
                    <a:cubicBezTo>
                      <a:pt x="36815" y="164455"/>
                      <a:pt x="0" y="127641"/>
                      <a:pt x="0" y="82228"/>
                    </a:cubicBezTo>
                    <a:lnTo>
                      <a:pt x="0" y="82228"/>
                    </a:lnTo>
                    <a:cubicBezTo>
                      <a:pt x="0" y="36815"/>
                      <a:pt x="36815" y="0"/>
                      <a:pt x="82228" y="0"/>
                    </a:cubicBezTo>
                    <a:close/>
                  </a:path>
                </a:pathLst>
              </a:custGeom>
              <a:solidFill>
                <a:srgbClr val="1D3163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1018539" cy="1930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2204803" y="245158"/>
              <a:ext cx="740987" cy="3603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9"/>
                </a:lnSpc>
              </a:pPr>
              <a:r>
                <a:rPr lang="en-US" sz="1881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CNN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973406" y="3891559"/>
            <a:ext cx="3862946" cy="190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8"/>
              </a:lnSpc>
            </a:pPr>
            <a:r>
              <a:rPr lang="en-US" sz="229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Réseau de neurones convolutionnel utilisé pour extraire automatiquement les caractéristiques d’images (formes, textures, objets).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390655" y="2368032"/>
            <a:ext cx="4291363" cy="3816760"/>
            <a:chOff x="0" y="0"/>
            <a:chExt cx="1032518" cy="9183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2517" cy="918326"/>
            </a:xfrm>
            <a:custGeom>
              <a:avLst/>
              <a:gdLst/>
              <a:ahLst/>
              <a:cxnLst/>
              <a:rect r="r" b="b" t="t" l="l"/>
              <a:pathLst>
                <a:path h="918326" w="1032517">
                  <a:moveTo>
                    <a:pt x="64947" y="0"/>
                  </a:moveTo>
                  <a:lnTo>
                    <a:pt x="967571" y="0"/>
                  </a:lnTo>
                  <a:cubicBezTo>
                    <a:pt x="984796" y="0"/>
                    <a:pt x="1001315" y="6843"/>
                    <a:pt x="1013495" y="19022"/>
                  </a:cubicBezTo>
                  <a:cubicBezTo>
                    <a:pt x="1025675" y="31202"/>
                    <a:pt x="1032517" y="47722"/>
                    <a:pt x="1032517" y="64947"/>
                  </a:cubicBezTo>
                  <a:lnTo>
                    <a:pt x="1032517" y="853380"/>
                  </a:lnTo>
                  <a:cubicBezTo>
                    <a:pt x="1032517" y="889249"/>
                    <a:pt x="1003440" y="918326"/>
                    <a:pt x="967571" y="918326"/>
                  </a:cubicBezTo>
                  <a:lnTo>
                    <a:pt x="64947" y="918326"/>
                  </a:lnTo>
                  <a:cubicBezTo>
                    <a:pt x="29078" y="918326"/>
                    <a:pt x="0" y="889249"/>
                    <a:pt x="0" y="853380"/>
                  </a:cubicBezTo>
                  <a:lnTo>
                    <a:pt x="0" y="64947"/>
                  </a:lnTo>
                  <a:cubicBezTo>
                    <a:pt x="0" y="29078"/>
                    <a:pt x="29078" y="0"/>
                    <a:pt x="64947" y="0"/>
                  </a:cubicBezTo>
                  <a:close/>
                </a:path>
              </a:pathLst>
            </a:custGeom>
            <a:ln w="9525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32518" cy="956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604863" y="2210398"/>
            <a:ext cx="3862946" cy="623718"/>
            <a:chOff x="0" y="0"/>
            <a:chExt cx="1018539" cy="1644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8539" cy="164455"/>
            </a:xfrm>
            <a:custGeom>
              <a:avLst/>
              <a:gdLst/>
              <a:ahLst/>
              <a:cxnLst/>
              <a:rect r="r" b="b" t="t" l="l"/>
              <a:pathLst>
                <a:path h="164455" w="1018539">
                  <a:moveTo>
                    <a:pt x="82228" y="0"/>
                  </a:moveTo>
                  <a:lnTo>
                    <a:pt x="936312" y="0"/>
                  </a:lnTo>
                  <a:cubicBezTo>
                    <a:pt x="981725" y="0"/>
                    <a:pt x="1018539" y="36815"/>
                    <a:pt x="1018539" y="82228"/>
                  </a:cubicBezTo>
                  <a:lnTo>
                    <a:pt x="1018539" y="82228"/>
                  </a:lnTo>
                  <a:cubicBezTo>
                    <a:pt x="1018539" y="127641"/>
                    <a:pt x="981725" y="164455"/>
                    <a:pt x="936312" y="164455"/>
                  </a:cubicBezTo>
                  <a:lnTo>
                    <a:pt x="82228" y="164455"/>
                  </a:lnTo>
                  <a:cubicBezTo>
                    <a:pt x="36815" y="164455"/>
                    <a:pt x="0" y="127641"/>
                    <a:pt x="0" y="82228"/>
                  </a:cubicBezTo>
                  <a:lnTo>
                    <a:pt x="0" y="82228"/>
                  </a:lnTo>
                  <a:cubicBezTo>
                    <a:pt x="0" y="36815"/>
                    <a:pt x="36815" y="0"/>
                    <a:pt x="82228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018539" cy="193030"/>
            </a:xfrm>
            <a:prstGeom prst="rect">
              <a:avLst/>
            </a:prstGeom>
          </p:spPr>
          <p:txBody>
            <a:bodyPr anchor="ctr" rtlCol="false" tIns="55608" lIns="55608" bIns="55608" rIns="55608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108539" y="2387082"/>
            <a:ext cx="855594" cy="265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sz="1881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ResNet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234467" y="2465479"/>
            <a:ext cx="4291363" cy="3719312"/>
            <a:chOff x="0" y="0"/>
            <a:chExt cx="1032518" cy="8948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2517" cy="894880"/>
            </a:xfrm>
            <a:custGeom>
              <a:avLst/>
              <a:gdLst/>
              <a:ahLst/>
              <a:cxnLst/>
              <a:rect r="r" b="b" t="t" l="l"/>
              <a:pathLst>
                <a:path h="894880" w="1032517">
                  <a:moveTo>
                    <a:pt x="64947" y="0"/>
                  </a:moveTo>
                  <a:lnTo>
                    <a:pt x="967571" y="0"/>
                  </a:lnTo>
                  <a:cubicBezTo>
                    <a:pt x="984796" y="0"/>
                    <a:pt x="1001315" y="6843"/>
                    <a:pt x="1013495" y="19022"/>
                  </a:cubicBezTo>
                  <a:cubicBezTo>
                    <a:pt x="1025675" y="31202"/>
                    <a:pt x="1032517" y="47722"/>
                    <a:pt x="1032517" y="64947"/>
                  </a:cubicBezTo>
                  <a:lnTo>
                    <a:pt x="1032517" y="829934"/>
                  </a:lnTo>
                  <a:cubicBezTo>
                    <a:pt x="1032517" y="865803"/>
                    <a:pt x="1003440" y="894880"/>
                    <a:pt x="967571" y="894880"/>
                  </a:cubicBezTo>
                  <a:lnTo>
                    <a:pt x="64947" y="894880"/>
                  </a:lnTo>
                  <a:cubicBezTo>
                    <a:pt x="29078" y="894880"/>
                    <a:pt x="0" y="865803"/>
                    <a:pt x="0" y="829934"/>
                  </a:cubicBezTo>
                  <a:lnTo>
                    <a:pt x="0" y="64947"/>
                  </a:lnTo>
                  <a:cubicBezTo>
                    <a:pt x="0" y="29078"/>
                    <a:pt x="29078" y="0"/>
                    <a:pt x="64947" y="0"/>
                  </a:cubicBezTo>
                  <a:close/>
                </a:path>
              </a:pathLst>
            </a:custGeom>
            <a:ln w="9525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32518" cy="932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448675" y="2210398"/>
            <a:ext cx="3862946" cy="623718"/>
            <a:chOff x="0" y="0"/>
            <a:chExt cx="1018539" cy="1644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8539" cy="164455"/>
            </a:xfrm>
            <a:custGeom>
              <a:avLst/>
              <a:gdLst/>
              <a:ahLst/>
              <a:cxnLst/>
              <a:rect r="r" b="b" t="t" l="l"/>
              <a:pathLst>
                <a:path h="164455" w="1018539">
                  <a:moveTo>
                    <a:pt x="82228" y="0"/>
                  </a:moveTo>
                  <a:lnTo>
                    <a:pt x="936312" y="0"/>
                  </a:lnTo>
                  <a:cubicBezTo>
                    <a:pt x="981725" y="0"/>
                    <a:pt x="1018539" y="36815"/>
                    <a:pt x="1018539" y="82228"/>
                  </a:cubicBezTo>
                  <a:lnTo>
                    <a:pt x="1018539" y="82228"/>
                  </a:lnTo>
                  <a:cubicBezTo>
                    <a:pt x="1018539" y="127641"/>
                    <a:pt x="981725" y="164455"/>
                    <a:pt x="936312" y="164455"/>
                  </a:cubicBezTo>
                  <a:lnTo>
                    <a:pt x="82228" y="164455"/>
                  </a:lnTo>
                  <a:cubicBezTo>
                    <a:pt x="36815" y="164455"/>
                    <a:pt x="0" y="127641"/>
                    <a:pt x="0" y="82228"/>
                  </a:cubicBezTo>
                  <a:lnTo>
                    <a:pt x="0" y="82228"/>
                  </a:lnTo>
                  <a:cubicBezTo>
                    <a:pt x="0" y="36815"/>
                    <a:pt x="36815" y="0"/>
                    <a:pt x="82228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018539" cy="193030"/>
            </a:xfrm>
            <a:prstGeom prst="rect">
              <a:avLst/>
            </a:prstGeom>
          </p:spPr>
          <p:txBody>
            <a:bodyPr anchor="ctr" rtlCol="false" tIns="55608" lIns="55608" bIns="55608" rIns="55608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041447" y="2387082"/>
            <a:ext cx="677403" cy="265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sz="1881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CRNN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03010" y="3891559"/>
            <a:ext cx="3862946" cy="159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8"/>
              </a:lnSpc>
            </a:pPr>
            <a:r>
              <a:rPr lang="en-US" sz="229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Version améliorée du CNN avec des skip connections (connexions résiduelles) qui permettent d’entraîner des réseaux très profonds.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46823" y="3891559"/>
            <a:ext cx="3862946" cy="159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8"/>
              </a:lnSpc>
            </a:pPr>
            <a:r>
              <a:rPr lang="en-US" sz="229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Combine CNN + RNN : le CNN extrait les caractéristiques, puis le RNN analyse la séquence/temporalité.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188925" y="3077084"/>
            <a:ext cx="3431907" cy="25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9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Convolutional Neural Network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18383" y="3077084"/>
            <a:ext cx="2832200" cy="25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79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Residual Neural Network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964048" y="3077084"/>
            <a:ext cx="2832200" cy="49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8"/>
              </a:lnSpc>
            </a:pPr>
            <a:r>
              <a:rPr lang="en-US" sz="179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Convolutional Recurrent Neural Network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704292" y="6680091"/>
            <a:ext cx="8879417" cy="603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3"/>
              </a:lnSpc>
              <a:spcBef>
                <a:spcPct val="0"/>
              </a:spcBef>
            </a:pPr>
            <a:r>
              <a:rPr lang="en-US" b="true" sz="3623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b="true" sz="3623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Techniques de régularisation &amp; stabilité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30092" y="7487867"/>
            <a:ext cx="16029208" cy="2586381"/>
            <a:chOff x="0" y="0"/>
            <a:chExt cx="4733571" cy="76378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33571" cy="763782"/>
            </a:xfrm>
            <a:custGeom>
              <a:avLst/>
              <a:gdLst/>
              <a:ahLst/>
              <a:cxnLst/>
              <a:rect r="r" b="b" t="t" l="l"/>
              <a:pathLst>
                <a:path h="763782" w="4733571">
                  <a:moveTo>
                    <a:pt x="24632" y="0"/>
                  </a:moveTo>
                  <a:lnTo>
                    <a:pt x="4708939" y="0"/>
                  </a:lnTo>
                  <a:cubicBezTo>
                    <a:pt x="4722543" y="0"/>
                    <a:pt x="4733571" y="11028"/>
                    <a:pt x="4733571" y="24632"/>
                  </a:cubicBezTo>
                  <a:lnTo>
                    <a:pt x="4733571" y="739149"/>
                  </a:lnTo>
                  <a:cubicBezTo>
                    <a:pt x="4733571" y="745682"/>
                    <a:pt x="4730976" y="751948"/>
                    <a:pt x="4726356" y="756567"/>
                  </a:cubicBezTo>
                  <a:cubicBezTo>
                    <a:pt x="4721737" y="761187"/>
                    <a:pt x="4715472" y="763782"/>
                    <a:pt x="4708939" y="763782"/>
                  </a:cubicBezTo>
                  <a:lnTo>
                    <a:pt x="24632" y="763782"/>
                  </a:lnTo>
                  <a:cubicBezTo>
                    <a:pt x="11028" y="763782"/>
                    <a:pt x="0" y="752753"/>
                    <a:pt x="0" y="739149"/>
                  </a:cubicBezTo>
                  <a:lnTo>
                    <a:pt x="0" y="24632"/>
                  </a:lnTo>
                  <a:cubicBezTo>
                    <a:pt x="0" y="11028"/>
                    <a:pt x="11028" y="0"/>
                    <a:pt x="24632" y="0"/>
                  </a:cubicBezTo>
                  <a:close/>
                </a:path>
              </a:pathLst>
            </a:custGeom>
            <a:solidFill>
              <a:srgbClr val="CCEBFF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733571" cy="801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872835" y="7745042"/>
            <a:ext cx="238786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1C367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Batch Normalization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874519" y="7745042"/>
            <a:ext cx="103227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1C367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Dropout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661797" y="7745042"/>
            <a:ext cx="17143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1C367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Early Stopping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97798" y="7745042"/>
            <a:ext cx="197564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1C367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Label Smoothing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255655" y="7745042"/>
            <a:ext cx="239077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1C367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ReduceLROnPlateau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776280" y="8208357"/>
            <a:ext cx="2580976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3675"/>
                </a:solidFill>
                <a:latin typeface="Quicksand"/>
                <a:ea typeface="Quicksand"/>
                <a:cs typeface="Quicksand"/>
                <a:sym typeface="Quicksand"/>
              </a:rPr>
              <a:t>Stabilise les activations internes et accélère la convergence du modèle.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950876" y="8127736"/>
            <a:ext cx="2947140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3675"/>
                </a:solidFill>
                <a:latin typeface="Quicksand"/>
                <a:ea typeface="Quicksand"/>
                <a:cs typeface="Quicksand"/>
                <a:sym typeface="Quicksand"/>
              </a:rPr>
              <a:t>Évite le surapprentissage (overfitting) en désactivant aléatoirement certains neurones pendant l’entraînement.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232242" y="8127736"/>
            <a:ext cx="2573478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1C3675"/>
                </a:solidFill>
                <a:latin typeface="Quicksand"/>
                <a:ea typeface="Quicksand"/>
                <a:cs typeface="Quicksand"/>
                <a:sym typeface="Quicksand"/>
              </a:rPr>
              <a:t>Arrête l’entraînement lorsque val_loss n’améliore plus </a:t>
            </a:r>
            <a:r>
              <a:rPr lang="en-US" sz="1899">
                <a:solidFill>
                  <a:srgbClr val="1C3675"/>
                </a:solidFill>
                <a:latin typeface="Quicksand"/>
                <a:ea typeface="Quicksand"/>
                <a:cs typeface="Quicksand"/>
                <a:sym typeface="Quicksand"/>
              </a:rPr>
              <a:t>afin d’éviter le surapprentissage.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139945" y="8208357"/>
            <a:ext cx="2578905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3675"/>
                </a:solidFill>
                <a:latin typeface="Quicksand"/>
                <a:ea typeface="Quicksand"/>
                <a:cs typeface="Quicksand"/>
                <a:sym typeface="Quicksand"/>
              </a:rPr>
              <a:t>Utilise </a:t>
            </a:r>
            <a:r>
              <a:rPr lang="en-US" sz="1899">
                <a:solidFill>
                  <a:srgbClr val="1C3675"/>
                </a:solidFill>
                <a:latin typeface="Quicksand"/>
                <a:ea typeface="Quicksand"/>
                <a:cs typeface="Quicksand"/>
                <a:sym typeface="Quicksand"/>
              </a:rPr>
              <a:t>ε = 0.1 pour réduire la surconfiance du modèle et améliorer sa généralisation.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021109" y="8208357"/>
            <a:ext cx="2859868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C3675"/>
                </a:solidFill>
                <a:latin typeface="Quicksand"/>
                <a:ea typeface="Quicksand"/>
                <a:cs typeface="Quicksand"/>
                <a:sym typeface="Quicksand"/>
              </a:rPr>
              <a:t>Réduit automatiquement le learning rate,</a:t>
            </a:r>
            <a:r>
              <a:rPr lang="en-US" sz="1899">
                <a:solidFill>
                  <a:srgbClr val="1C3675"/>
                </a:solidFill>
                <a:latin typeface="Quicksand"/>
                <a:ea typeface="Quicksand"/>
                <a:cs typeface="Quicksand"/>
                <a:sym typeface="Quicksand"/>
              </a:rPr>
              <a:t> lorsque la performance stagne.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9459" y="246262"/>
            <a:ext cx="20086919" cy="1543050"/>
            <a:chOff x="0" y="0"/>
            <a:chExt cx="529038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90382" cy="406400"/>
            </a:xfrm>
            <a:custGeom>
              <a:avLst/>
              <a:gdLst/>
              <a:ahLst/>
              <a:cxnLst/>
              <a:rect r="r" b="b" t="t" l="l"/>
              <a:pathLst>
                <a:path h="406400" w="5290382">
                  <a:moveTo>
                    <a:pt x="0" y="0"/>
                  </a:moveTo>
                  <a:lnTo>
                    <a:pt x="5290382" y="0"/>
                  </a:lnTo>
                  <a:lnTo>
                    <a:pt x="5290382" y="406400"/>
                  </a:lnTo>
                  <a:lnTo>
                    <a:pt x="0" y="4064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9038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230092" y="-234418"/>
            <a:ext cx="2460184" cy="2649428"/>
          </a:xfrm>
          <a:custGeom>
            <a:avLst/>
            <a:gdLst/>
            <a:ahLst/>
            <a:cxnLst/>
            <a:rect r="r" b="b" t="t" l="l"/>
            <a:pathLst>
              <a:path h="2649428" w="2460184">
                <a:moveTo>
                  <a:pt x="0" y="0"/>
                </a:moveTo>
                <a:lnTo>
                  <a:pt x="2460184" y="0"/>
                </a:lnTo>
                <a:lnTo>
                  <a:pt x="2460184" y="2649429"/>
                </a:lnTo>
                <a:lnTo>
                  <a:pt x="0" y="2649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1884" t="-35465" r="-335790" b="-52916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2259" y="2222815"/>
            <a:ext cx="14969489" cy="4952406"/>
          </a:xfrm>
          <a:custGeom>
            <a:avLst/>
            <a:gdLst/>
            <a:ahLst/>
            <a:cxnLst/>
            <a:rect r="r" b="b" t="t" l="l"/>
            <a:pathLst>
              <a:path h="4952406" w="14969489">
                <a:moveTo>
                  <a:pt x="0" y="0"/>
                </a:moveTo>
                <a:lnTo>
                  <a:pt x="14969489" y="0"/>
                </a:lnTo>
                <a:lnTo>
                  <a:pt x="14969489" y="4952406"/>
                </a:lnTo>
                <a:lnTo>
                  <a:pt x="0" y="4952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82610" y="591061"/>
            <a:ext cx="15040155" cy="91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640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Entraînement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485219" y="9742602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3309478"/>
            <a:ext cx="280863" cy="160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3"/>
              </a:lnSpc>
            </a:pPr>
            <a:r>
              <a:rPr lang="en-US" sz="945">
                <a:solidFill>
                  <a:srgbClr val="1D3163"/>
                </a:solidFill>
                <a:latin typeface="Quicksand"/>
                <a:ea typeface="Quicksand"/>
                <a:cs typeface="Quicksand"/>
                <a:sym typeface="Quicksand"/>
              </a:rPr>
              <a:t>FP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12968" y="7736179"/>
            <a:ext cx="2503620" cy="33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b="true" sz="229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Fonction de perte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360659" y="7444703"/>
            <a:ext cx="5335541" cy="2697202"/>
            <a:chOff x="0" y="0"/>
            <a:chExt cx="1405245" cy="710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05245" cy="710374"/>
            </a:xfrm>
            <a:custGeom>
              <a:avLst/>
              <a:gdLst/>
              <a:ahLst/>
              <a:cxnLst/>
              <a:rect r="r" b="b" t="t" l="l"/>
              <a:pathLst>
                <a:path h="710374" w="1405245">
                  <a:moveTo>
                    <a:pt x="52236" y="0"/>
                  </a:moveTo>
                  <a:lnTo>
                    <a:pt x="1353009" y="0"/>
                  </a:lnTo>
                  <a:cubicBezTo>
                    <a:pt x="1366863" y="0"/>
                    <a:pt x="1380150" y="5503"/>
                    <a:pt x="1389946" y="15300"/>
                  </a:cubicBezTo>
                  <a:cubicBezTo>
                    <a:pt x="1399742" y="25096"/>
                    <a:pt x="1405245" y="38382"/>
                    <a:pt x="1405245" y="52236"/>
                  </a:cubicBezTo>
                  <a:lnTo>
                    <a:pt x="1405245" y="658138"/>
                  </a:lnTo>
                  <a:cubicBezTo>
                    <a:pt x="1405245" y="686987"/>
                    <a:pt x="1381858" y="710374"/>
                    <a:pt x="1353009" y="710374"/>
                  </a:cubicBezTo>
                  <a:lnTo>
                    <a:pt x="52236" y="710374"/>
                  </a:lnTo>
                  <a:cubicBezTo>
                    <a:pt x="38382" y="710374"/>
                    <a:pt x="25096" y="704871"/>
                    <a:pt x="15300" y="695074"/>
                  </a:cubicBezTo>
                  <a:cubicBezTo>
                    <a:pt x="5503" y="685278"/>
                    <a:pt x="0" y="671992"/>
                    <a:pt x="0" y="658138"/>
                  </a:cubicBezTo>
                  <a:lnTo>
                    <a:pt x="0" y="52236"/>
                  </a:lnTo>
                  <a:cubicBezTo>
                    <a:pt x="0" y="38382"/>
                    <a:pt x="5503" y="25096"/>
                    <a:pt x="15300" y="15300"/>
                  </a:cubicBezTo>
                  <a:cubicBezTo>
                    <a:pt x="25096" y="5503"/>
                    <a:pt x="38382" y="0"/>
                    <a:pt x="52236" y="0"/>
                  </a:cubicBezTo>
                  <a:close/>
                </a:path>
              </a:pathLst>
            </a:custGeom>
            <a:ln w="9525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05245" cy="748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610877" y="8263223"/>
            <a:ext cx="4707803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Cross-Entropy Loss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+ Label Smoothing ε=0.1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⟶ elle mesure l’écart entre les prédictions du modèle et les vraies classes.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61232" y="7736179"/>
            <a:ext cx="1542389" cy="33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  <a:spcBef>
                <a:spcPct val="0"/>
              </a:spcBef>
            </a:pPr>
            <a:r>
              <a:rPr lang="en-US" b="true" sz="229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Op</a:t>
            </a:r>
            <a:r>
              <a:rPr lang="en-US" b="true" sz="2298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timiseur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64656" y="7444703"/>
            <a:ext cx="5335541" cy="2697202"/>
            <a:chOff x="0" y="0"/>
            <a:chExt cx="1405245" cy="7103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05245" cy="710374"/>
            </a:xfrm>
            <a:custGeom>
              <a:avLst/>
              <a:gdLst/>
              <a:ahLst/>
              <a:cxnLst/>
              <a:rect r="r" b="b" t="t" l="l"/>
              <a:pathLst>
                <a:path h="710374" w="1405245">
                  <a:moveTo>
                    <a:pt x="52236" y="0"/>
                  </a:moveTo>
                  <a:lnTo>
                    <a:pt x="1353009" y="0"/>
                  </a:lnTo>
                  <a:cubicBezTo>
                    <a:pt x="1366863" y="0"/>
                    <a:pt x="1380150" y="5503"/>
                    <a:pt x="1389946" y="15300"/>
                  </a:cubicBezTo>
                  <a:cubicBezTo>
                    <a:pt x="1399742" y="25096"/>
                    <a:pt x="1405245" y="38382"/>
                    <a:pt x="1405245" y="52236"/>
                  </a:cubicBezTo>
                  <a:lnTo>
                    <a:pt x="1405245" y="658138"/>
                  </a:lnTo>
                  <a:cubicBezTo>
                    <a:pt x="1405245" y="686987"/>
                    <a:pt x="1381858" y="710374"/>
                    <a:pt x="1353009" y="710374"/>
                  </a:cubicBezTo>
                  <a:lnTo>
                    <a:pt x="52236" y="710374"/>
                  </a:lnTo>
                  <a:cubicBezTo>
                    <a:pt x="38382" y="710374"/>
                    <a:pt x="25096" y="704871"/>
                    <a:pt x="15300" y="695074"/>
                  </a:cubicBezTo>
                  <a:cubicBezTo>
                    <a:pt x="5503" y="685278"/>
                    <a:pt x="0" y="671992"/>
                    <a:pt x="0" y="658138"/>
                  </a:cubicBezTo>
                  <a:lnTo>
                    <a:pt x="0" y="52236"/>
                  </a:lnTo>
                  <a:cubicBezTo>
                    <a:pt x="0" y="38382"/>
                    <a:pt x="5503" y="25096"/>
                    <a:pt x="15300" y="15300"/>
                  </a:cubicBezTo>
                  <a:cubicBezTo>
                    <a:pt x="25096" y="5503"/>
                    <a:pt x="38382" y="0"/>
                    <a:pt x="52236" y="0"/>
                  </a:cubicBezTo>
                  <a:close/>
                </a:path>
              </a:pathLst>
            </a:custGeom>
            <a:ln w="9525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05245" cy="748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070337" y="8263223"/>
            <a:ext cx="4524180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Adam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⟶ il ajuste automatiquement le taux d’apprentissage et permet une convergence plus rapide et plus stable pendant l’entraînement.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93490" y="90702"/>
            <a:ext cx="20086919" cy="1543050"/>
            <a:chOff x="0" y="0"/>
            <a:chExt cx="529038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90382" cy="406400"/>
            </a:xfrm>
            <a:custGeom>
              <a:avLst/>
              <a:gdLst/>
              <a:ahLst/>
              <a:cxnLst/>
              <a:rect r="r" b="b" t="t" l="l"/>
              <a:pathLst>
                <a:path h="406400" w="5290382">
                  <a:moveTo>
                    <a:pt x="0" y="0"/>
                  </a:moveTo>
                  <a:lnTo>
                    <a:pt x="5290382" y="0"/>
                  </a:lnTo>
                  <a:lnTo>
                    <a:pt x="5290382" y="406400"/>
                  </a:lnTo>
                  <a:lnTo>
                    <a:pt x="0" y="4064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9038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871604" y="-639978"/>
            <a:ext cx="2460184" cy="2649428"/>
          </a:xfrm>
          <a:custGeom>
            <a:avLst/>
            <a:gdLst/>
            <a:ahLst/>
            <a:cxnLst/>
            <a:rect r="r" b="b" t="t" l="l"/>
            <a:pathLst>
              <a:path h="2649428" w="2460184">
                <a:moveTo>
                  <a:pt x="0" y="0"/>
                </a:moveTo>
                <a:lnTo>
                  <a:pt x="2460183" y="0"/>
                </a:lnTo>
                <a:lnTo>
                  <a:pt x="2460183" y="2649428"/>
                </a:lnTo>
                <a:lnTo>
                  <a:pt x="0" y="26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1884" t="-35465" r="-335790" b="-529166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374716" y="2033628"/>
            <a:ext cx="7178945" cy="1988737"/>
            <a:chOff x="0" y="0"/>
            <a:chExt cx="2242747" cy="6212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2747" cy="621294"/>
            </a:xfrm>
            <a:custGeom>
              <a:avLst/>
              <a:gdLst/>
              <a:ahLst/>
              <a:cxnLst/>
              <a:rect r="r" b="b" t="t" l="l"/>
              <a:pathLst>
                <a:path h="621294" w="2242747">
                  <a:moveTo>
                    <a:pt x="38823" y="0"/>
                  </a:moveTo>
                  <a:lnTo>
                    <a:pt x="2203923" y="0"/>
                  </a:lnTo>
                  <a:cubicBezTo>
                    <a:pt x="2225365" y="0"/>
                    <a:pt x="2242747" y="17382"/>
                    <a:pt x="2242747" y="38823"/>
                  </a:cubicBezTo>
                  <a:lnTo>
                    <a:pt x="2242747" y="582471"/>
                  </a:lnTo>
                  <a:cubicBezTo>
                    <a:pt x="2242747" y="603912"/>
                    <a:pt x="2225365" y="621294"/>
                    <a:pt x="2203923" y="621294"/>
                  </a:cubicBezTo>
                  <a:lnTo>
                    <a:pt x="38823" y="621294"/>
                  </a:lnTo>
                  <a:cubicBezTo>
                    <a:pt x="28527" y="621294"/>
                    <a:pt x="18652" y="617203"/>
                    <a:pt x="11371" y="609923"/>
                  </a:cubicBezTo>
                  <a:cubicBezTo>
                    <a:pt x="4090" y="602642"/>
                    <a:pt x="0" y="592767"/>
                    <a:pt x="0" y="582471"/>
                  </a:cubicBezTo>
                  <a:lnTo>
                    <a:pt x="0" y="38823"/>
                  </a:lnTo>
                  <a:cubicBezTo>
                    <a:pt x="0" y="17382"/>
                    <a:pt x="17382" y="0"/>
                    <a:pt x="38823" y="0"/>
                  </a:cubicBezTo>
                  <a:close/>
                </a:path>
              </a:pathLst>
            </a:custGeom>
            <a:ln w="9525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42747" cy="659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58488" y="2007339"/>
            <a:ext cx="9274075" cy="1896296"/>
          </a:xfrm>
          <a:custGeom>
            <a:avLst/>
            <a:gdLst/>
            <a:ahLst/>
            <a:cxnLst/>
            <a:rect r="r" b="b" t="t" l="l"/>
            <a:pathLst>
              <a:path h="1896296" w="9274075">
                <a:moveTo>
                  <a:pt x="0" y="0"/>
                </a:moveTo>
                <a:lnTo>
                  <a:pt x="9274074" y="0"/>
                </a:lnTo>
                <a:lnTo>
                  <a:pt x="9274074" y="1896296"/>
                </a:lnTo>
                <a:lnTo>
                  <a:pt x="0" y="189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71253" y="4022365"/>
            <a:ext cx="11048381" cy="3314514"/>
          </a:xfrm>
          <a:custGeom>
            <a:avLst/>
            <a:gdLst/>
            <a:ahLst/>
            <a:cxnLst/>
            <a:rect r="r" b="b" t="t" l="l"/>
            <a:pathLst>
              <a:path h="3314514" w="11048381">
                <a:moveTo>
                  <a:pt x="0" y="0"/>
                </a:moveTo>
                <a:lnTo>
                  <a:pt x="11048381" y="0"/>
                </a:lnTo>
                <a:lnTo>
                  <a:pt x="11048381" y="3314514"/>
                </a:lnTo>
                <a:lnTo>
                  <a:pt x="0" y="33145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88579" y="435501"/>
            <a:ext cx="16283677" cy="91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640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Évaluation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560183" y="9517711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3311" y="799136"/>
            <a:ext cx="2614877" cy="97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4"/>
              </a:lnSpc>
            </a:pPr>
            <a:r>
              <a:rPr lang="en-US" sz="56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Évaluation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52675" y="2260273"/>
            <a:ext cx="6423026" cy="155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77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Finalement, le choix du meilleur modèle a été basé principalement sur la meilleure accuracy sur le test set, tout en vérifiant avec le F1-macro, la matrice de confusion et les courbes ROC que le modèle était aussi équilibré et robuste.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135233" y="7336879"/>
            <a:ext cx="9737023" cy="2896764"/>
          </a:xfrm>
          <a:custGeom>
            <a:avLst/>
            <a:gdLst/>
            <a:ahLst/>
            <a:cxnLst/>
            <a:rect r="r" b="b" t="t" l="l"/>
            <a:pathLst>
              <a:path h="2896764" w="9737023">
                <a:moveTo>
                  <a:pt x="0" y="0"/>
                </a:moveTo>
                <a:lnTo>
                  <a:pt x="9737023" y="0"/>
                </a:lnTo>
                <a:lnTo>
                  <a:pt x="9737023" y="2896765"/>
                </a:lnTo>
                <a:lnTo>
                  <a:pt x="0" y="28967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71604" y="-639978"/>
            <a:ext cx="2460184" cy="2649428"/>
          </a:xfrm>
          <a:custGeom>
            <a:avLst/>
            <a:gdLst/>
            <a:ahLst/>
            <a:cxnLst/>
            <a:rect r="r" b="b" t="t" l="l"/>
            <a:pathLst>
              <a:path h="2649428" w="2460184">
                <a:moveTo>
                  <a:pt x="0" y="0"/>
                </a:moveTo>
                <a:lnTo>
                  <a:pt x="2460183" y="0"/>
                </a:lnTo>
                <a:lnTo>
                  <a:pt x="2460183" y="2649428"/>
                </a:lnTo>
                <a:lnTo>
                  <a:pt x="0" y="26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1884" t="-35465" r="-335790" b="-52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8488" y="3574039"/>
            <a:ext cx="17618116" cy="5806637"/>
          </a:xfrm>
          <a:custGeom>
            <a:avLst/>
            <a:gdLst/>
            <a:ahLst/>
            <a:cxnLst/>
            <a:rect r="r" b="b" t="t" l="l"/>
            <a:pathLst>
              <a:path h="5806637" w="17618116">
                <a:moveTo>
                  <a:pt x="0" y="0"/>
                </a:moveTo>
                <a:lnTo>
                  <a:pt x="17618115" y="0"/>
                </a:lnTo>
                <a:lnTo>
                  <a:pt x="17618115" y="5806638"/>
                </a:lnTo>
                <a:lnTo>
                  <a:pt x="0" y="5806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560183" y="9517711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6448" y="732361"/>
            <a:ext cx="14914690" cy="84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5900">
                <a:solidFill>
                  <a:srgbClr val="CCEBFF"/>
                </a:solidFill>
                <a:latin typeface="Bungee"/>
                <a:ea typeface="Bungee"/>
                <a:cs typeface="Bungee"/>
                <a:sym typeface="Bungee"/>
              </a:rPr>
              <a:t>Interprétabilité — Grad-CAM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1734" y="1952300"/>
            <a:ext cx="781777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Grad-CAM sur ImprovedSimpleCNN (meilleur modèle)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1734" y="2526439"/>
            <a:ext cx="1406228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Avec Grad-CAM, nous pouvons interpréter les décisions du modèle en visualisant les régions du spectrogramme qui influencent le plus la prédiction, ce qui améliore la confiance dans notre modèle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5468" y="1394844"/>
            <a:ext cx="1318500" cy="1969385"/>
            <a:chOff x="0" y="0"/>
            <a:chExt cx="54416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4168" cy="812800"/>
            </a:xfrm>
            <a:custGeom>
              <a:avLst/>
              <a:gdLst/>
              <a:ahLst/>
              <a:cxnLst/>
              <a:rect r="r" b="b" t="t" l="l"/>
              <a:pathLst>
                <a:path h="812800" w="544168">
                  <a:moveTo>
                    <a:pt x="272084" y="0"/>
                  </a:moveTo>
                  <a:cubicBezTo>
                    <a:pt x="121816" y="0"/>
                    <a:pt x="0" y="181951"/>
                    <a:pt x="0" y="406400"/>
                  </a:cubicBezTo>
                  <a:cubicBezTo>
                    <a:pt x="0" y="630849"/>
                    <a:pt x="121816" y="812800"/>
                    <a:pt x="272084" y="812800"/>
                  </a:cubicBezTo>
                  <a:cubicBezTo>
                    <a:pt x="422352" y="812800"/>
                    <a:pt x="544168" y="630849"/>
                    <a:pt x="544168" y="406400"/>
                  </a:cubicBezTo>
                  <a:cubicBezTo>
                    <a:pt x="544168" y="181951"/>
                    <a:pt x="422352" y="0"/>
                    <a:pt x="272084" y="0"/>
                  </a:cubicBezTo>
                  <a:close/>
                </a:path>
              </a:pathLst>
            </a:custGeom>
            <a:solidFill>
              <a:srgbClr val="30488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51016" y="38100"/>
              <a:ext cx="442137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2860" y="3182895"/>
            <a:ext cx="7279840" cy="4271522"/>
            <a:chOff x="0" y="0"/>
            <a:chExt cx="1843246" cy="10815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3246" cy="1081544"/>
            </a:xfrm>
            <a:custGeom>
              <a:avLst/>
              <a:gdLst/>
              <a:ahLst/>
              <a:cxnLst/>
              <a:rect r="r" b="b" t="t" l="l"/>
              <a:pathLst>
                <a:path h="1081544" w="1843246">
                  <a:moveTo>
                    <a:pt x="85078" y="0"/>
                  </a:moveTo>
                  <a:lnTo>
                    <a:pt x="1758168" y="0"/>
                  </a:lnTo>
                  <a:cubicBezTo>
                    <a:pt x="1780732" y="0"/>
                    <a:pt x="1802372" y="8964"/>
                    <a:pt x="1818327" y="24919"/>
                  </a:cubicBezTo>
                  <a:cubicBezTo>
                    <a:pt x="1834282" y="40874"/>
                    <a:pt x="1843246" y="62514"/>
                    <a:pt x="1843246" y="85078"/>
                  </a:cubicBezTo>
                  <a:lnTo>
                    <a:pt x="1843246" y="996466"/>
                  </a:lnTo>
                  <a:cubicBezTo>
                    <a:pt x="1843246" y="1019030"/>
                    <a:pt x="1834282" y="1040670"/>
                    <a:pt x="1818327" y="1056625"/>
                  </a:cubicBezTo>
                  <a:cubicBezTo>
                    <a:pt x="1802372" y="1072580"/>
                    <a:pt x="1780732" y="1081544"/>
                    <a:pt x="1758168" y="1081544"/>
                  </a:cubicBezTo>
                  <a:lnTo>
                    <a:pt x="85078" y="1081544"/>
                  </a:lnTo>
                  <a:cubicBezTo>
                    <a:pt x="38091" y="1081544"/>
                    <a:pt x="0" y="1043453"/>
                    <a:pt x="0" y="996466"/>
                  </a:cubicBezTo>
                  <a:lnTo>
                    <a:pt x="0" y="85078"/>
                  </a:lnTo>
                  <a:cubicBezTo>
                    <a:pt x="0" y="62514"/>
                    <a:pt x="8964" y="40874"/>
                    <a:pt x="24919" y="24919"/>
                  </a:cubicBezTo>
                  <a:cubicBezTo>
                    <a:pt x="40874" y="8964"/>
                    <a:pt x="62514" y="0"/>
                    <a:pt x="85078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43246" cy="1119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071263" y="990122"/>
            <a:ext cx="15496077" cy="94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6600">
                <a:solidFill>
                  <a:srgbClr val="CCEBFF"/>
                </a:solidFill>
                <a:latin typeface="Bungee"/>
                <a:ea typeface="Bungee"/>
                <a:cs typeface="Bungee"/>
                <a:sym typeface="Bungee"/>
              </a:rPr>
              <a:t>Conclusion ET Perspectives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524871" y="9638344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8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276806" y="3926204"/>
            <a:ext cx="5749817" cy="903413"/>
            <a:chOff x="0" y="0"/>
            <a:chExt cx="1982885" cy="3115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2886" cy="311552"/>
            </a:xfrm>
            <a:custGeom>
              <a:avLst/>
              <a:gdLst/>
              <a:ahLst/>
              <a:cxnLst/>
              <a:rect r="r" b="b" t="t" l="l"/>
              <a:pathLst>
                <a:path h="311552" w="1982886">
                  <a:moveTo>
                    <a:pt x="107717" y="0"/>
                  </a:moveTo>
                  <a:lnTo>
                    <a:pt x="1875168" y="0"/>
                  </a:lnTo>
                  <a:cubicBezTo>
                    <a:pt x="1934659" y="0"/>
                    <a:pt x="1982886" y="48227"/>
                    <a:pt x="1982886" y="107717"/>
                  </a:cubicBezTo>
                  <a:lnTo>
                    <a:pt x="1982886" y="203835"/>
                  </a:lnTo>
                  <a:cubicBezTo>
                    <a:pt x="1982886" y="263325"/>
                    <a:pt x="1934659" y="311552"/>
                    <a:pt x="1875168" y="311552"/>
                  </a:cubicBezTo>
                  <a:lnTo>
                    <a:pt x="107717" y="311552"/>
                  </a:lnTo>
                  <a:cubicBezTo>
                    <a:pt x="48227" y="311552"/>
                    <a:pt x="0" y="263325"/>
                    <a:pt x="0" y="203835"/>
                  </a:cubicBezTo>
                  <a:lnTo>
                    <a:pt x="0" y="107717"/>
                  </a:lnTo>
                  <a:cubicBezTo>
                    <a:pt x="0" y="48227"/>
                    <a:pt x="48227" y="0"/>
                    <a:pt x="107717" y="0"/>
                  </a:cubicBezTo>
                  <a:close/>
                </a:path>
              </a:pathLst>
            </a:custGeom>
            <a:solidFill>
              <a:srgbClr val="304883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82885" cy="349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367529" y="4081099"/>
            <a:ext cx="601927" cy="601927"/>
          </a:xfrm>
          <a:custGeom>
            <a:avLst/>
            <a:gdLst/>
            <a:ahLst/>
            <a:cxnLst/>
            <a:rect r="r" b="b" t="t" l="l"/>
            <a:pathLst>
              <a:path h="601927" w="601927">
                <a:moveTo>
                  <a:pt x="0" y="0"/>
                </a:moveTo>
                <a:lnTo>
                  <a:pt x="601927" y="0"/>
                </a:lnTo>
                <a:lnTo>
                  <a:pt x="601927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276806" y="5017390"/>
            <a:ext cx="5749817" cy="954041"/>
            <a:chOff x="0" y="0"/>
            <a:chExt cx="1982885" cy="3290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2886" cy="329011"/>
            </a:xfrm>
            <a:custGeom>
              <a:avLst/>
              <a:gdLst/>
              <a:ahLst/>
              <a:cxnLst/>
              <a:rect r="r" b="b" t="t" l="l"/>
              <a:pathLst>
                <a:path h="329011" w="1982886">
                  <a:moveTo>
                    <a:pt x="107717" y="0"/>
                  </a:moveTo>
                  <a:lnTo>
                    <a:pt x="1875168" y="0"/>
                  </a:lnTo>
                  <a:cubicBezTo>
                    <a:pt x="1934659" y="0"/>
                    <a:pt x="1982886" y="48227"/>
                    <a:pt x="1982886" y="107717"/>
                  </a:cubicBezTo>
                  <a:lnTo>
                    <a:pt x="1982886" y="221294"/>
                  </a:lnTo>
                  <a:cubicBezTo>
                    <a:pt x="1982886" y="280785"/>
                    <a:pt x="1934659" y="329011"/>
                    <a:pt x="1875168" y="329011"/>
                  </a:cubicBezTo>
                  <a:lnTo>
                    <a:pt x="107717" y="329011"/>
                  </a:lnTo>
                  <a:cubicBezTo>
                    <a:pt x="48227" y="329011"/>
                    <a:pt x="0" y="280785"/>
                    <a:pt x="0" y="221294"/>
                  </a:cubicBezTo>
                  <a:lnTo>
                    <a:pt x="0" y="107717"/>
                  </a:lnTo>
                  <a:cubicBezTo>
                    <a:pt x="0" y="48227"/>
                    <a:pt x="48227" y="0"/>
                    <a:pt x="107717" y="0"/>
                  </a:cubicBezTo>
                  <a:close/>
                </a:path>
              </a:pathLst>
            </a:custGeom>
            <a:solidFill>
              <a:srgbClr val="304883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2885" cy="36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412549" y="5179366"/>
            <a:ext cx="601927" cy="601927"/>
          </a:xfrm>
          <a:custGeom>
            <a:avLst/>
            <a:gdLst/>
            <a:ahLst/>
            <a:cxnLst/>
            <a:rect r="r" b="b" t="t" l="l"/>
            <a:pathLst>
              <a:path h="601927" w="601927">
                <a:moveTo>
                  <a:pt x="0" y="0"/>
                </a:moveTo>
                <a:lnTo>
                  <a:pt x="601926" y="0"/>
                </a:lnTo>
                <a:lnTo>
                  <a:pt x="601926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115687" y="4181987"/>
            <a:ext cx="4598551" cy="36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Modèle performant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60707" y="5250260"/>
            <a:ext cx="4553532" cy="36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Bonne capacité de généralisation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91571" y="3182895"/>
            <a:ext cx="7279840" cy="4271522"/>
            <a:chOff x="0" y="0"/>
            <a:chExt cx="1843246" cy="10815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43246" cy="1081544"/>
            </a:xfrm>
            <a:custGeom>
              <a:avLst/>
              <a:gdLst/>
              <a:ahLst/>
              <a:cxnLst/>
              <a:rect r="r" b="b" t="t" l="l"/>
              <a:pathLst>
                <a:path h="1081544" w="1843246">
                  <a:moveTo>
                    <a:pt x="85078" y="0"/>
                  </a:moveTo>
                  <a:lnTo>
                    <a:pt x="1758168" y="0"/>
                  </a:lnTo>
                  <a:cubicBezTo>
                    <a:pt x="1780732" y="0"/>
                    <a:pt x="1802372" y="8964"/>
                    <a:pt x="1818327" y="24919"/>
                  </a:cubicBezTo>
                  <a:cubicBezTo>
                    <a:pt x="1834282" y="40874"/>
                    <a:pt x="1843246" y="62514"/>
                    <a:pt x="1843246" y="85078"/>
                  </a:cubicBezTo>
                  <a:lnTo>
                    <a:pt x="1843246" y="996466"/>
                  </a:lnTo>
                  <a:cubicBezTo>
                    <a:pt x="1843246" y="1019030"/>
                    <a:pt x="1834282" y="1040670"/>
                    <a:pt x="1818327" y="1056625"/>
                  </a:cubicBezTo>
                  <a:cubicBezTo>
                    <a:pt x="1802372" y="1072580"/>
                    <a:pt x="1780732" y="1081544"/>
                    <a:pt x="1758168" y="1081544"/>
                  </a:cubicBezTo>
                  <a:lnTo>
                    <a:pt x="85078" y="1081544"/>
                  </a:lnTo>
                  <a:cubicBezTo>
                    <a:pt x="38091" y="1081544"/>
                    <a:pt x="0" y="1043453"/>
                    <a:pt x="0" y="996466"/>
                  </a:cubicBezTo>
                  <a:lnTo>
                    <a:pt x="0" y="85078"/>
                  </a:lnTo>
                  <a:cubicBezTo>
                    <a:pt x="0" y="62514"/>
                    <a:pt x="8964" y="40874"/>
                    <a:pt x="24919" y="24919"/>
                  </a:cubicBezTo>
                  <a:cubicBezTo>
                    <a:pt x="40874" y="8964"/>
                    <a:pt x="62514" y="0"/>
                    <a:pt x="85078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43246" cy="1119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95763" y="3889848"/>
            <a:ext cx="5633647" cy="752672"/>
            <a:chOff x="0" y="0"/>
            <a:chExt cx="1942823" cy="2595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42823" cy="259567"/>
            </a:xfrm>
            <a:custGeom>
              <a:avLst/>
              <a:gdLst/>
              <a:ahLst/>
              <a:cxnLst/>
              <a:rect r="r" b="b" t="t" l="l"/>
              <a:pathLst>
                <a:path h="259567" w="1942823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149629"/>
                  </a:lnTo>
                  <a:cubicBezTo>
                    <a:pt x="1942823" y="210346"/>
                    <a:pt x="1893602" y="259567"/>
                    <a:pt x="1832885" y="259567"/>
                  </a:cubicBezTo>
                  <a:lnTo>
                    <a:pt x="109938" y="259567"/>
                  </a:lnTo>
                  <a:cubicBezTo>
                    <a:pt x="80781" y="259567"/>
                    <a:pt x="52818" y="247984"/>
                    <a:pt x="32200" y="227367"/>
                  </a:cubicBezTo>
                  <a:cubicBezTo>
                    <a:pt x="11583" y="206749"/>
                    <a:pt x="0" y="178786"/>
                    <a:pt x="0" y="149629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304883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42823" cy="29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179664" y="4066108"/>
            <a:ext cx="4187610" cy="36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Augmenter la taille du dataset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66964" y="2384594"/>
            <a:ext cx="2571631" cy="97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4"/>
              </a:lnSpc>
            </a:pPr>
            <a:r>
              <a:rPr lang="en-US" sz="56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Conclusion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46948" y="2479236"/>
            <a:ext cx="3169087" cy="97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4"/>
              </a:lnSpc>
            </a:pPr>
            <a:r>
              <a:rPr lang="en-US" sz="56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Perspectives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430823" y="3965221"/>
            <a:ext cx="601927" cy="601927"/>
          </a:xfrm>
          <a:custGeom>
            <a:avLst/>
            <a:gdLst/>
            <a:ahLst/>
            <a:cxnLst/>
            <a:rect r="r" b="b" t="t" l="l"/>
            <a:pathLst>
              <a:path h="601927" w="601927">
                <a:moveTo>
                  <a:pt x="0" y="0"/>
                </a:moveTo>
                <a:lnTo>
                  <a:pt x="601927" y="0"/>
                </a:lnTo>
                <a:lnTo>
                  <a:pt x="601927" y="601926"/>
                </a:lnTo>
                <a:lnTo>
                  <a:pt x="0" y="601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0295763" y="4906362"/>
            <a:ext cx="5633647" cy="1053636"/>
            <a:chOff x="0" y="0"/>
            <a:chExt cx="1942823" cy="36335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42823" cy="363357"/>
            </a:xfrm>
            <a:custGeom>
              <a:avLst/>
              <a:gdLst/>
              <a:ahLst/>
              <a:cxnLst/>
              <a:rect r="r" b="b" t="t" l="l"/>
              <a:pathLst>
                <a:path h="363357" w="1942823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253419"/>
                  </a:lnTo>
                  <a:cubicBezTo>
                    <a:pt x="1942823" y="314136"/>
                    <a:pt x="1893602" y="363357"/>
                    <a:pt x="1832885" y="363357"/>
                  </a:cubicBezTo>
                  <a:lnTo>
                    <a:pt x="109938" y="363357"/>
                  </a:lnTo>
                  <a:cubicBezTo>
                    <a:pt x="80781" y="363357"/>
                    <a:pt x="52818" y="351775"/>
                    <a:pt x="32200" y="331157"/>
                  </a:cubicBezTo>
                  <a:cubicBezTo>
                    <a:pt x="11583" y="310540"/>
                    <a:pt x="0" y="282577"/>
                    <a:pt x="0" y="253419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304883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942823" cy="40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084414" y="5043970"/>
            <a:ext cx="4844996" cy="740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Déploiement dans une application mobile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0430823" y="5132216"/>
            <a:ext cx="601927" cy="601927"/>
          </a:xfrm>
          <a:custGeom>
            <a:avLst/>
            <a:gdLst/>
            <a:ahLst/>
            <a:cxnLst/>
            <a:rect r="r" b="b" t="t" l="l"/>
            <a:pathLst>
              <a:path h="601927" w="601927">
                <a:moveTo>
                  <a:pt x="0" y="0"/>
                </a:moveTo>
                <a:lnTo>
                  <a:pt x="601927" y="0"/>
                </a:lnTo>
                <a:lnTo>
                  <a:pt x="601927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0295763" y="6226698"/>
            <a:ext cx="5633647" cy="752672"/>
            <a:chOff x="0" y="0"/>
            <a:chExt cx="1942823" cy="2595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42823" cy="259567"/>
            </a:xfrm>
            <a:custGeom>
              <a:avLst/>
              <a:gdLst/>
              <a:ahLst/>
              <a:cxnLst/>
              <a:rect r="r" b="b" t="t" l="l"/>
              <a:pathLst>
                <a:path h="259567" w="1942823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149629"/>
                  </a:lnTo>
                  <a:cubicBezTo>
                    <a:pt x="1942823" y="210346"/>
                    <a:pt x="1893602" y="259567"/>
                    <a:pt x="1832885" y="259567"/>
                  </a:cubicBezTo>
                  <a:lnTo>
                    <a:pt x="109938" y="259567"/>
                  </a:lnTo>
                  <a:cubicBezTo>
                    <a:pt x="80781" y="259567"/>
                    <a:pt x="52818" y="247984"/>
                    <a:pt x="32200" y="227367"/>
                  </a:cubicBezTo>
                  <a:cubicBezTo>
                    <a:pt x="11583" y="206749"/>
                    <a:pt x="0" y="178786"/>
                    <a:pt x="0" y="149629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304883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942823" cy="29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179664" y="6412483"/>
            <a:ext cx="4187610" cy="30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3"/>
              </a:lnSpc>
            </a:pPr>
            <a:r>
              <a:rPr lang="en-US" sz="183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Système de détection en temps réel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0430823" y="6302070"/>
            <a:ext cx="601927" cy="601927"/>
          </a:xfrm>
          <a:custGeom>
            <a:avLst/>
            <a:gdLst/>
            <a:ahLst/>
            <a:cxnLst/>
            <a:rect r="r" b="b" t="t" l="l"/>
            <a:pathLst>
              <a:path h="601927" w="601927">
                <a:moveTo>
                  <a:pt x="0" y="0"/>
                </a:moveTo>
                <a:lnTo>
                  <a:pt x="601927" y="0"/>
                </a:lnTo>
                <a:lnTo>
                  <a:pt x="601927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2276806" y="6161932"/>
            <a:ext cx="5749817" cy="862164"/>
            <a:chOff x="0" y="0"/>
            <a:chExt cx="1982885" cy="29732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82886" cy="297326"/>
            </a:xfrm>
            <a:custGeom>
              <a:avLst/>
              <a:gdLst/>
              <a:ahLst/>
              <a:cxnLst/>
              <a:rect r="r" b="b" t="t" l="l"/>
              <a:pathLst>
                <a:path h="297326" w="1982886">
                  <a:moveTo>
                    <a:pt x="107717" y="0"/>
                  </a:moveTo>
                  <a:lnTo>
                    <a:pt x="1875168" y="0"/>
                  </a:lnTo>
                  <a:cubicBezTo>
                    <a:pt x="1934659" y="0"/>
                    <a:pt x="1982886" y="48227"/>
                    <a:pt x="1982886" y="107717"/>
                  </a:cubicBezTo>
                  <a:lnTo>
                    <a:pt x="1982886" y="189609"/>
                  </a:lnTo>
                  <a:cubicBezTo>
                    <a:pt x="1982886" y="249100"/>
                    <a:pt x="1934659" y="297326"/>
                    <a:pt x="1875168" y="297326"/>
                  </a:cubicBezTo>
                  <a:lnTo>
                    <a:pt x="107717" y="297326"/>
                  </a:lnTo>
                  <a:cubicBezTo>
                    <a:pt x="48227" y="297326"/>
                    <a:pt x="0" y="249100"/>
                    <a:pt x="0" y="189609"/>
                  </a:cubicBezTo>
                  <a:lnTo>
                    <a:pt x="0" y="107717"/>
                  </a:lnTo>
                  <a:cubicBezTo>
                    <a:pt x="0" y="48227"/>
                    <a:pt x="48227" y="0"/>
                    <a:pt x="107717" y="0"/>
                  </a:cubicBezTo>
                  <a:close/>
                </a:path>
              </a:pathLst>
            </a:custGeom>
            <a:solidFill>
              <a:srgbClr val="304883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982885" cy="335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2412549" y="6278771"/>
            <a:ext cx="601927" cy="601927"/>
          </a:xfrm>
          <a:custGeom>
            <a:avLst/>
            <a:gdLst/>
            <a:ahLst/>
            <a:cxnLst/>
            <a:rect r="r" b="b" t="t" l="l"/>
            <a:pathLst>
              <a:path h="601927" w="601927">
                <a:moveTo>
                  <a:pt x="0" y="0"/>
                </a:moveTo>
                <a:lnTo>
                  <a:pt x="601926" y="0"/>
                </a:lnTo>
                <a:lnTo>
                  <a:pt x="601926" y="601926"/>
                </a:lnTo>
                <a:lnTo>
                  <a:pt x="0" y="601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3160707" y="6394802"/>
            <a:ext cx="5068047" cy="33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93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Techniques de régularisation efficaces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4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2079" y="899913"/>
            <a:ext cx="13392835" cy="8928556"/>
          </a:xfrm>
          <a:custGeom>
            <a:avLst/>
            <a:gdLst/>
            <a:ahLst/>
            <a:cxnLst/>
            <a:rect r="r" b="b" t="t" l="l"/>
            <a:pathLst>
              <a:path h="8928556" w="13392835">
                <a:moveTo>
                  <a:pt x="0" y="0"/>
                </a:moveTo>
                <a:lnTo>
                  <a:pt x="13392834" y="0"/>
                </a:lnTo>
                <a:lnTo>
                  <a:pt x="13392834" y="8928557"/>
                </a:lnTo>
                <a:lnTo>
                  <a:pt x="0" y="8928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524871" y="9638344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9</a:t>
            </a:r>
          </a:p>
        </p:txBody>
      </p:sp>
      <p:sp>
        <p:nvSpPr>
          <p:cNvPr name="TextBox 4" id="4"/>
          <p:cNvSpPr txBox="true"/>
          <p:nvPr/>
        </p:nvSpPr>
        <p:spPr>
          <a:xfrm rot="-208294">
            <a:off x="5772039" y="3455681"/>
            <a:ext cx="6731810" cy="361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00"/>
              </a:lnSpc>
            </a:pPr>
            <a:r>
              <a:rPr lang="en-US" sz="10357">
                <a:solidFill>
                  <a:srgbClr val="FFFFFF"/>
                </a:solidFill>
                <a:latin typeface="Brittany"/>
                <a:ea typeface="Brittany"/>
                <a:cs typeface="Brittany"/>
                <a:sym typeface="Brittany"/>
              </a:rP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DAHKUpkFZWo</dc:identifier>
  <dcterms:modified xsi:type="dcterms:W3CDTF">2011-08-01T06:04:30Z</dcterms:modified>
  <cp:revision>1</cp:revision>
  <dc:title> Présentation deep learning</dc:title>
</cp:coreProperties>
</file>